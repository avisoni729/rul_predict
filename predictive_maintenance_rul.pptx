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03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9.png"/><Relationship Id="rId3" Type="http://schemas.openxmlformats.org/officeDocument/2006/relationships/image" Target="../media/image13.png"/><Relationship Id="rId7" Type="http://schemas.openxmlformats.org/officeDocument/2006/relationships/image" Target="../media/image24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7.png"/><Relationship Id="rId5" Type="http://schemas.openxmlformats.org/officeDocument/2006/relationships/image" Target="../media/image15.png"/><Relationship Id="rId10" Type="http://schemas.openxmlformats.org/officeDocument/2006/relationships/image" Target="../media/image26.png"/><Relationship Id="rId4" Type="http://schemas.openxmlformats.org/officeDocument/2006/relationships/image" Target="../media/image14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4.png"/><Relationship Id="rId9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3" Type="http://schemas.openxmlformats.org/officeDocument/2006/relationships/image" Target="../media/image35.png"/><Relationship Id="rId21" Type="http://schemas.openxmlformats.org/officeDocument/2006/relationships/image" Target="../media/image53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23" Type="http://schemas.openxmlformats.org/officeDocument/2006/relationships/image" Target="../media/image55.png"/><Relationship Id="rId10" Type="http://schemas.openxmlformats.org/officeDocument/2006/relationships/image" Target="../media/image42.png"/><Relationship Id="rId19" Type="http://schemas.openxmlformats.org/officeDocument/2006/relationships/image" Target="../media/image51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Relationship Id="rId22" Type="http://schemas.openxmlformats.org/officeDocument/2006/relationships/image" Target="../media/image5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63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10" Type="http://schemas.openxmlformats.org/officeDocument/2006/relationships/image" Target="../media/image69.png"/><Relationship Id="rId4" Type="http://schemas.openxmlformats.org/officeDocument/2006/relationships/image" Target="../media/image36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81.png"/><Relationship Id="rId3" Type="http://schemas.openxmlformats.org/officeDocument/2006/relationships/image" Target="../media/image63.png"/><Relationship Id="rId7" Type="http://schemas.openxmlformats.org/officeDocument/2006/relationships/image" Target="../media/image77.png"/><Relationship Id="rId12" Type="http://schemas.openxmlformats.org/officeDocument/2006/relationships/image" Target="../media/image8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79.png"/><Relationship Id="rId5" Type="http://schemas.openxmlformats.org/officeDocument/2006/relationships/image" Target="../media/image76.png"/><Relationship Id="rId15" Type="http://schemas.openxmlformats.org/officeDocument/2006/relationships/image" Target="../media/image55.png"/><Relationship Id="rId10" Type="http://schemas.openxmlformats.org/officeDocument/2006/relationships/image" Target="../media/image47.png"/><Relationship Id="rId4" Type="http://schemas.openxmlformats.org/officeDocument/2006/relationships/image" Target="../media/image56.png"/><Relationship Id="rId9" Type="http://schemas.openxmlformats.org/officeDocument/2006/relationships/image" Target="../media/image78.png"/><Relationship Id="rId14" Type="http://schemas.openxmlformats.org/officeDocument/2006/relationships/image" Target="../media/image8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13.png"/><Relationship Id="rId7" Type="http://schemas.openxmlformats.org/officeDocument/2006/relationships/image" Target="../media/image83.png"/><Relationship Id="rId12" Type="http://schemas.openxmlformats.org/officeDocument/2006/relationships/image" Target="../media/image8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33.png"/><Relationship Id="rId5" Type="http://schemas.openxmlformats.org/officeDocument/2006/relationships/image" Target="../media/image15.png"/><Relationship Id="rId10" Type="http://schemas.openxmlformats.org/officeDocument/2006/relationships/image" Target="../media/image85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5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56.png"/><Relationship Id="rId9" Type="http://schemas.openxmlformats.org/officeDocument/2006/relationships/image" Target="../media/image9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905" y="495605"/>
            <a:ext cx="533095" cy="5330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t="-397" b="-397"/>
          <a:stretch/>
        </p:blipFill>
        <p:spPr>
          <a:xfrm>
            <a:off x="3619195" y="3771900"/>
            <a:ext cx="4953305" cy="1920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047902" y="1809598"/>
            <a:ext cx="100968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kern="0" spc="-37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Maintenance using</a:t>
            </a:r>
            <a:endParaRPr lang="en-US" sz="3900" dirty="0"/>
          </a:p>
        </p:txBody>
      </p:sp>
      <p:sp>
        <p:nvSpPr>
          <p:cNvPr id="8" name="Text 3"/>
          <p:cNvSpPr txBox="1"/>
          <p:nvPr/>
        </p:nvSpPr>
        <p:spPr>
          <a:xfrm>
            <a:off x="64922" y="2459736"/>
            <a:ext cx="12062765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-52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Remaining Useful Life </a:t>
            </a:r>
            <a:r>
              <a:rPr lang="en-US" sz="4000" b="1" kern="0" spc="-52" dirty="0">
                <a:solidFill>
                  <a:srgbClr val="0EA5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(RUL)</a:t>
            </a:r>
            <a:r>
              <a:rPr lang="en-US" sz="4000" b="1" kern="0" spc="-52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Prediction </a:t>
            </a:r>
            <a:endParaRPr lang="en-US" sz="4000" dirty="0"/>
          </a:p>
        </p:txBody>
      </p:sp>
      <p:sp>
        <p:nvSpPr>
          <p:cNvPr id="9" name="Text 4"/>
          <p:cNvSpPr txBox="1"/>
          <p:nvPr/>
        </p:nvSpPr>
        <p:spPr>
          <a:xfrm>
            <a:off x="2420417" y="3170992"/>
            <a:ext cx="8686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/>
              <a:t>Business-first, safety-aware Machine Learning for Industrial Equipment Reliability</a:t>
            </a:r>
          </a:p>
        </p:txBody>
      </p:sp>
      <p:sp>
        <p:nvSpPr>
          <p:cNvPr id="10" name="Text 5"/>
          <p:cNvSpPr txBox="1"/>
          <p:nvPr/>
        </p:nvSpPr>
        <p:spPr>
          <a:xfrm>
            <a:off x="1086307" y="4000500"/>
            <a:ext cx="100209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11" name="Text 6"/>
          <p:cNvSpPr txBox="1"/>
          <p:nvPr/>
        </p:nvSpPr>
        <p:spPr>
          <a:xfrm>
            <a:off x="1276502" y="4401007"/>
            <a:ext cx="96396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12" name="Text 7"/>
          <p:cNvSpPr txBox="1"/>
          <p:nvPr/>
        </p:nvSpPr>
        <p:spPr>
          <a:xfrm>
            <a:off x="1657807" y="4972507"/>
            <a:ext cx="8877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52298" y="6324905"/>
            <a:ext cx="11087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dirty="0"/>
          </a:p>
          <a:p>
            <a:r>
              <a:rPr lang="en-US" dirty="0"/>
              <a:t>                                                       </a:t>
            </a:r>
            <a:r>
              <a:rPr dirty="0"/>
              <a:t>Focus: Uptime • Cost Reduction • Safety through RUL Insights</a:t>
            </a: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10351" y="6048756"/>
            <a:ext cx="171907" cy="17190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2019" y="3916398"/>
            <a:ext cx="5260478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rPr sz="2200" dirty="0"/>
              <a:t>Avi Kishore Soni</a:t>
            </a:r>
          </a:p>
          <a:p>
            <a:pPr algn="ctr">
              <a:defRPr sz="2000"/>
            </a:pPr>
            <a:r>
              <a:rPr dirty="0"/>
              <a:t>PGP in Data Science with Specialization in Gen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399" b="-399"/>
          <a:stretch/>
        </p:blipFill>
        <p:spPr>
          <a:xfrm>
            <a:off x="761695" y="1676095"/>
            <a:ext cx="10668305" cy="192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761695" y="1952244"/>
            <a:ext cx="10668305" cy="1238098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t="-4" b="-4"/>
          <a:stretch/>
        </p:blipFill>
        <p:spPr>
          <a:xfrm>
            <a:off x="761695" y="3362249"/>
            <a:ext cx="10668305" cy="1390802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 l="-1" r="-1"/>
          <a:stretch/>
        </p:blipFill>
        <p:spPr>
          <a:xfrm>
            <a:off x="761695" y="4924044"/>
            <a:ext cx="10668305" cy="1485900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Definition</a:t>
            </a:r>
            <a:endParaRPr lang="en-US" sz="2700" dirty="0"/>
          </a:p>
        </p:txBody>
      </p:sp>
      <p:sp>
        <p:nvSpPr>
          <p:cNvPr id="10" name="Text 3"/>
          <p:cNvSpPr txBox="1"/>
          <p:nvPr/>
        </p:nvSpPr>
        <p:spPr>
          <a:xfrm>
            <a:off x="761695" y="1067105"/>
            <a:ext cx="10782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predictive maintenance is a business-critical capability for modern industrial operations</a:t>
            </a:r>
            <a:endParaRPr lang="en-US" sz="120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114654" y="2371954"/>
            <a:ext cx="247802" cy="247802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1600200" y="2171700"/>
            <a:ext cx="9715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Unplanned failures are expensive and disruptive</a:t>
            </a:r>
            <a:endParaRPr lang="en-US" sz="1300" dirty="0"/>
          </a:p>
        </p:txBody>
      </p:sp>
      <p:sp>
        <p:nvSpPr>
          <p:cNvPr id="13" name="Text 5"/>
          <p:cNvSpPr txBox="1"/>
          <p:nvPr/>
        </p:nvSpPr>
        <p:spPr>
          <a:xfrm>
            <a:off x="1600200" y="2478938"/>
            <a:ext cx="10287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Unexpected breakdowns lead to production downtime, emergency repairs, safety risks, and missed delivery commitments.</a:t>
            </a:r>
            <a:endParaRPr lang="en-US" sz="12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123798" y="3866998"/>
            <a:ext cx="228600" cy="228600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1600200" y="3581705"/>
            <a:ext cx="94494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Fixed-schedule preventive maintenance wastes resources</a:t>
            </a:r>
            <a:endParaRPr lang="en-US" sz="1300" dirty="0"/>
          </a:p>
        </p:txBody>
      </p:sp>
      <p:sp>
        <p:nvSpPr>
          <p:cNvPr id="16" name="Text 7"/>
          <p:cNvSpPr txBox="1"/>
          <p:nvPr/>
        </p:nvSpPr>
        <p:spPr>
          <a:xfrm>
            <a:off x="1600200" y="3888943"/>
            <a:ext cx="94110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Replacing parts on a calendar basis often discards healthy components, increases labor cost, and adds unnecessary planned downtime.</a:t>
            </a:r>
            <a:endParaRPr lang="en-US" sz="12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23798" y="5391302"/>
            <a:ext cx="228600" cy="228600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1600200" y="5143500"/>
            <a:ext cx="9715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Need: Predict Remaining Useful Life (RUL) to maintain at the right time</a:t>
            </a:r>
            <a:endParaRPr lang="en-US" sz="1300" dirty="0"/>
          </a:p>
        </p:txBody>
      </p:sp>
      <p:sp>
        <p:nvSpPr>
          <p:cNvPr id="19" name="Text 9"/>
          <p:cNvSpPr txBox="1"/>
          <p:nvPr/>
        </p:nvSpPr>
        <p:spPr>
          <a:xfrm>
            <a:off x="1600200" y="5450738"/>
            <a:ext cx="96780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Estimate how many operational cycles a machine has left before failure, enabling </a:t>
            </a: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just-in-time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maintenance planning—neither too early nor too late. </a:t>
            </a:r>
            <a:endParaRPr lang="en-US" sz="1200" dirty="0"/>
          </a:p>
        </p:txBody>
      </p:sp>
      <p:sp>
        <p:nvSpPr>
          <p:cNvPr id="20" name="Text 10"/>
          <p:cNvSpPr txBox="1"/>
          <p:nvPr/>
        </p:nvSpPr>
        <p:spPr>
          <a:xfrm>
            <a:off x="1600200" y="6034126"/>
            <a:ext cx="9715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higher uptime • lower maintenance waste • improved safety</a:t>
            </a:r>
            <a:endParaRPr lang="en-US" sz="1000" dirty="0"/>
          </a:p>
        </p:txBody>
      </p:sp>
      <p:sp>
        <p:nvSpPr>
          <p:cNvPr id="21" name="Text 11"/>
          <p:cNvSpPr txBox="1"/>
          <p:nvPr/>
        </p:nvSpPr>
        <p:spPr>
          <a:xfrm>
            <a:off x="761695" y="6495898"/>
            <a:ext cx="10782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builds an ML-based RUL prediction system from multivariate sensor telemetry to support data-driven maintenance decisions.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399" b="-399"/>
          <a:stretch/>
        </p:blipFill>
        <p:spPr>
          <a:xfrm>
            <a:off x="761695" y="1657807"/>
            <a:ext cx="10668305" cy="192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761695" y="1867205"/>
            <a:ext cx="5219395" cy="34290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t="-3" b="-3"/>
          <a:stretch/>
        </p:blipFill>
        <p:spPr>
          <a:xfrm>
            <a:off x="6210605" y="1867205"/>
            <a:ext cx="5219395" cy="342900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 l="-14" r="-14"/>
          <a:stretch/>
        </p:blipFill>
        <p:spPr>
          <a:xfrm>
            <a:off x="761695" y="5486400"/>
            <a:ext cx="10668305" cy="121889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 &amp; Value Proposition</a:t>
            </a:r>
            <a:endParaRPr lang="en-US" sz="2700" dirty="0"/>
          </a:p>
        </p:txBody>
      </p:sp>
      <p:sp>
        <p:nvSpPr>
          <p:cNvPr id="10" name="Text 3"/>
          <p:cNvSpPr txBox="1"/>
          <p:nvPr/>
        </p:nvSpPr>
        <p:spPr>
          <a:xfrm>
            <a:off x="761695" y="1047902"/>
            <a:ext cx="107826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Turning sensor telemetry into actionable maintenance decisions (business-first capstone outcome)</a:t>
            </a:r>
            <a:endParaRPr lang="en-US" sz="120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133856" y="2276856"/>
            <a:ext cx="247802" cy="247802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1600200" y="2133295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Objective</a:t>
            </a:r>
            <a:endParaRPr lang="en-US" sz="1300" dirty="0"/>
          </a:p>
        </p:txBody>
      </p:sp>
      <p:sp>
        <p:nvSpPr>
          <p:cNvPr id="13" name="Text 5"/>
          <p:cNvSpPr txBox="1"/>
          <p:nvPr/>
        </p:nvSpPr>
        <p:spPr>
          <a:xfrm>
            <a:off x="1047902" y="2572207"/>
            <a:ext cx="48198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Build a machine learning model to predict </a:t>
            </a: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Remaining Useful Life (RUL)</a:t>
            </a: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continuous estimate of how many operational cycles a machine has left before failure — using multivariate sensor telemetry. </a:t>
            </a:r>
            <a:endParaRPr lang="en-US" sz="1100" dirty="0"/>
          </a:p>
        </p:txBody>
      </p:sp>
      <p:sp>
        <p:nvSpPr>
          <p:cNvPr id="14" name="Text 6"/>
          <p:cNvSpPr txBox="1"/>
          <p:nvPr/>
        </p:nvSpPr>
        <p:spPr>
          <a:xfrm>
            <a:off x="1047902" y="3372307"/>
            <a:ext cx="4858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signals (examples)</a:t>
            </a:r>
            <a:endParaRPr lang="en-US" sz="900" dirty="0"/>
          </a:p>
        </p:txBody>
      </p:sp>
      <p:sp>
        <p:nvSpPr>
          <p:cNvPr id="15" name="Text 7"/>
          <p:cNvSpPr txBox="1"/>
          <p:nvPr/>
        </p:nvSpPr>
        <p:spPr>
          <a:xfrm>
            <a:off x="1047902" y="3627425"/>
            <a:ext cx="48198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 • Vibration • Pressure • Current/Voltage • RPM • Load • Ambient conditions</a:t>
            </a:r>
            <a:endParaRPr lang="en-US" sz="900" dirty="0"/>
          </a:p>
        </p:txBody>
      </p:sp>
      <p:sp>
        <p:nvSpPr>
          <p:cNvPr id="16" name="Text 8"/>
          <p:cNvSpPr txBox="1"/>
          <p:nvPr/>
        </p:nvSpPr>
        <p:spPr>
          <a:xfrm>
            <a:off x="1047902" y="4137660"/>
            <a:ext cx="4858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question answered</a:t>
            </a:r>
            <a:endParaRPr lang="en-US" sz="900" dirty="0"/>
          </a:p>
        </p:txBody>
      </p:sp>
      <p:sp>
        <p:nvSpPr>
          <p:cNvPr id="17" name="Text 9"/>
          <p:cNvSpPr txBox="1"/>
          <p:nvPr/>
        </p:nvSpPr>
        <p:spPr>
          <a:xfrm>
            <a:off x="1047902" y="4392778"/>
            <a:ext cx="48198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“How long can we safely run this machine before maintenance becomes urgent?”</a:t>
            </a:r>
            <a:endParaRPr lang="en-US" sz="9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590995" y="2286000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7048195" y="2133295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Delivered</a:t>
            </a:r>
            <a:endParaRPr lang="en-US" sz="13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24244" y="2734056"/>
            <a:ext cx="152705" cy="15270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6782105" y="2628900"/>
            <a:ext cx="45912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unplanned downtime</a:t>
            </a:r>
            <a:endParaRPr lang="en-US" sz="1200" dirty="0"/>
          </a:p>
        </p:txBody>
      </p:sp>
      <p:sp>
        <p:nvSpPr>
          <p:cNvPr id="22" name="Text 12"/>
          <p:cNvSpPr txBox="1"/>
          <p:nvPr/>
        </p:nvSpPr>
        <p:spPr>
          <a:xfrm>
            <a:off x="6782105" y="2903220"/>
            <a:ext cx="45912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degradation early and avoid emergency stoppages.</a:t>
            </a:r>
            <a:endParaRPr lang="en-US" sz="10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rcRect t="-180" b="-180"/>
          <a:stretch/>
        </p:blipFill>
        <p:spPr>
          <a:xfrm>
            <a:off x="6505956" y="3419856"/>
            <a:ext cx="190195" cy="152705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6782105" y="3314700"/>
            <a:ext cx="45912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just-in-time maintenance &amp; inventory</a:t>
            </a:r>
            <a:endParaRPr lang="en-US" sz="1200" dirty="0"/>
          </a:p>
        </p:txBody>
      </p:sp>
      <p:sp>
        <p:nvSpPr>
          <p:cNvPr id="25" name="Text 14"/>
          <p:cNvSpPr txBox="1"/>
          <p:nvPr/>
        </p:nvSpPr>
        <p:spPr>
          <a:xfrm>
            <a:off x="6782105" y="3589020"/>
            <a:ext cx="51553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work in planned windows; order parts only when needed.</a:t>
            </a:r>
            <a:endParaRPr lang="en-US" sz="10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524244" y="4105656"/>
            <a:ext cx="152705" cy="152705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6782105" y="4000500"/>
            <a:ext cx="45912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 asset life &amp; improve safety</a:t>
            </a:r>
            <a:endParaRPr lang="en-US" sz="1200" dirty="0"/>
          </a:p>
        </p:txBody>
      </p:sp>
      <p:sp>
        <p:nvSpPr>
          <p:cNvPr id="28" name="Text 16"/>
          <p:cNvSpPr txBox="1"/>
          <p:nvPr/>
        </p:nvSpPr>
        <p:spPr>
          <a:xfrm>
            <a:off x="6782105" y="4274820"/>
            <a:ext cx="45537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 running equipment into catastrophic failure and reduce risk exposure.</a:t>
            </a:r>
            <a:endParaRPr lang="en-US" sz="100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3"/>
          <a:srcRect t="-45" b="-45"/>
          <a:stretch/>
        </p:blipFill>
        <p:spPr>
          <a:xfrm>
            <a:off x="1110082" y="5924398"/>
            <a:ext cx="256946" cy="228600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1600200" y="5658307"/>
            <a:ext cx="97539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Make predictions actionable with </a:t>
            </a:r>
            <a:r>
              <a:rPr lang="en-US" sz="1300" b="1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Bands</a:t>
            </a:r>
            <a:endParaRPr lang="en-US" sz="1300" dirty="0"/>
          </a:p>
        </p:txBody>
      </p:sp>
      <p:sp>
        <p:nvSpPr>
          <p:cNvPr id="31" name="Text 18"/>
          <p:cNvSpPr txBox="1"/>
          <p:nvPr/>
        </p:nvSpPr>
        <p:spPr>
          <a:xfrm>
            <a:off x="1600200" y="5946343"/>
            <a:ext cx="103254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Convert raw RUL into simple decisions for the shop floor: </a:t>
            </a: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(act now) • </a:t>
            </a: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(schedule next window) • </a:t>
            </a: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(monitor) • </a:t>
            </a: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</a:t>
            </a: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(healthy) </a:t>
            </a:r>
            <a:endParaRPr lang="en-US" sz="1000" dirty="0"/>
          </a:p>
        </p:txBody>
      </p:sp>
      <p:sp>
        <p:nvSpPr>
          <p:cNvPr id="32" name="Text 19"/>
          <p:cNvSpPr txBox="1"/>
          <p:nvPr/>
        </p:nvSpPr>
        <p:spPr>
          <a:xfrm>
            <a:off x="1600200" y="6229807"/>
            <a:ext cx="97539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 faster triage • fewer surprises • maintenance aligned to business priorities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399" b="-399"/>
          <a:stretch/>
        </p:blipFill>
        <p:spPr>
          <a:xfrm>
            <a:off x="761695" y="1657807"/>
            <a:ext cx="10668305" cy="192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761695" y="1867205"/>
            <a:ext cx="5219395" cy="34290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t="-3" b="-3"/>
          <a:stretch/>
        </p:blipFill>
        <p:spPr>
          <a:xfrm>
            <a:off x="6210605" y="1867205"/>
            <a:ext cx="5219395" cy="342900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 l="-5" r="-5"/>
          <a:stretch/>
        </p:blipFill>
        <p:spPr>
          <a:xfrm>
            <a:off x="1047902" y="2572207"/>
            <a:ext cx="4743907" cy="57150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/>
          <a:srcRect l="-14" r="-14"/>
          <a:stretch/>
        </p:blipFill>
        <p:spPr>
          <a:xfrm>
            <a:off x="761695" y="5486400"/>
            <a:ext cx="10668305" cy="1218895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Overview</a:t>
            </a:r>
            <a:endParaRPr lang="en-US" sz="2700" dirty="0"/>
          </a:p>
        </p:txBody>
      </p:sp>
      <p:sp>
        <p:nvSpPr>
          <p:cNvPr id="11" name="Text 3"/>
          <p:cNvSpPr txBox="1"/>
          <p:nvPr/>
        </p:nvSpPr>
        <p:spPr>
          <a:xfrm>
            <a:off x="761695" y="1047902"/>
            <a:ext cx="107826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used, what we built, and what made this a real predictive maintenance problem</a:t>
            </a:r>
            <a:endParaRPr lang="en-US" sz="120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9"/>
          <a:srcRect l="-606" r="-606"/>
          <a:stretch/>
        </p:blipFill>
        <p:spPr>
          <a:xfrm>
            <a:off x="1147572" y="2276856"/>
            <a:ext cx="219456" cy="247802"/>
          </a:xfrm>
          <a:prstGeom prst="rect">
            <a:avLst/>
          </a:prstGeom>
        </p:spPr>
      </p:pic>
      <p:sp>
        <p:nvSpPr>
          <p:cNvPr id="13" name="Text 4"/>
          <p:cNvSpPr txBox="1"/>
          <p:nvPr/>
        </p:nvSpPr>
        <p:spPr>
          <a:xfrm>
            <a:off x="1600200" y="2133295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at a Glance</a:t>
            </a:r>
            <a:endParaRPr lang="en-US" sz="1300" dirty="0"/>
          </a:p>
        </p:txBody>
      </p:sp>
      <p:sp>
        <p:nvSpPr>
          <p:cNvPr id="14" name="Text 5"/>
          <p:cNvSpPr txBox="1"/>
          <p:nvPr/>
        </p:nvSpPr>
        <p:spPr>
          <a:xfrm>
            <a:off x="1238098" y="2695651"/>
            <a:ext cx="4910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A5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120,000</a:t>
            </a: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records • </a:t>
            </a:r>
            <a:r>
              <a:rPr lang="en-US" sz="1300" b="1" dirty="0">
                <a:solidFill>
                  <a:srgbClr val="0EA5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raw features • </a:t>
            </a:r>
            <a:r>
              <a:rPr lang="en-US" sz="1300" b="1" dirty="0">
                <a:solidFill>
                  <a:srgbClr val="0EA5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engineered features </a:t>
            </a:r>
            <a:endParaRPr lang="en-US" sz="1000" dirty="0"/>
          </a:p>
        </p:txBody>
      </p:sp>
      <p:sp>
        <p:nvSpPr>
          <p:cNvPr id="15" name="Text 6"/>
          <p:cNvSpPr txBox="1"/>
          <p:nvPr/>
        </p:nvSpPr>
        <p:spPr>
          <a:xfrm>
            <a:off x="1047902" y="3276295"/>
            <a:ext cx="4858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inputs included</a:t>
            </a:r>
            <a:endParaRPr lang="en-US" sz="900" dirty="0"/>
          </a:p>
        </p:txBody>
      </p:sp>
      <p:sp>
        <p:nvSpPr>
          <p:cNvPr id="16" name="Text 7"/>
          <p:cNvSpPr txBox="1"/>
          <p:nvPr/>
        </p:nvSpPr>
        <p:spPr>
          <a:xfrm>
            <a:off x="1047902" y="3531413"/>
            <a:ext cx="4858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settings + multivariate sensors:</a:t>
            </a:r>
            <a:endParaRPr lang="en-US" sz="1100" dirty="0"/>
          </a:p>
        </p:txBody>
      </p:sp>
      <p:sp>
        <p:nvSpPr>
          <p:cNvPr id="17" name="Text 8"/>
          <p:cNvSpPr txBox="1"/>
          <p:nvPr/>
        </p:nvSpPr>
        <p:spPr>
          <a:xfrm>
            <a:off x="1047902" y="3817620"/>
            <a:ext cx="48198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 • Vibration (RMS/Peak) • Pressure • Current/Voltage • RPM • Torque • Load • Humidity • Ambient temp • Shift / mode</a:t>
            </a:r>
            <a:endParaRPr lang="en-US" sz="900" dirty="0"/>
          </a:p>
        </p:txBody>
      </p:sp>
      <p:sp>
        <p:nvSpPr>
          <p:cNvPr id="18" name="Text 9"/>
          <p:cNvSpPr txBox="1"/>
          <p:nvPr/>
        </p:nvSpPr>
        <p:spPr>
          <a:xfrm>
            <a:off x="1047902" y="4321454"/>
            <a:ext cx="4858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</a:t>
            </a:r>
            <a:endParaRPr lang="en-US" sz="900" dirty="0"/>
          </a:p>
        </p:txBody>
      </p:sp>
      <p:sp>
        <p:nvSpPr>
          <p:cNvPr id="19" name="Text 10"/>
          <p:cNvSpPr txBox="1"/>
          <p:nvPr/>
        </p:nvSpPr>
        <p:spPr>
          <a:xfrm>
            <a:off x="1047902" y="4576572"/>
            <a:ext cx="48198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Remaining Useful Life (RUL) </a:t>
            </a: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continuous prediction of cycles remaining before failure</a:t>
            </a:r>
            <a:endParaRPr lang="en-US" sz="11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90995" y="2286000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7048195" y="2133295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Data Challenges</a:t>
            </a:r>
            <a:endParaRPr lang="en-US" sz="13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1"/>
          <a:srcRect t="-180" b="-180"/>
          <a:stretch/>
        </p:blipFill>
        <p:spPr>
          <a:xfrm>
            <a:off x="6505956" y="2734056"/>
            <a:ext cx="190195" cy="152705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6782105" y="2628900"/>
            <a:ext cx="44769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Noisy, non-linear sensor behavior</a:t>
            </a:r>
            <a:endParaRPr lang="en-US" sz="1200" dirty="0"/>
          </a:p>
        </p:txBody>
      </p:sp>
      <p:sp>
        <p:nvSpPr>
          <p:cNvPr id="24" name="Text 13"/>
          <p:cNvSpPr txBox="1"/>
          <p:nvPr/>
        </p:nvSpPr>
        <p:spPr>
          <a:xfrm>
            <a:off x="6782105" y="2903220"/>
            <a:ext cx="44394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Machines degrade slowly, then drop sharply near failure (signal is not linear).</a:t>
            </a:r>
            <a:endParaRPr lang="en-US" sz="10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2"/>
          <a:srcRect l="-33" r="-33"/>
          <a:stretch/>
        </p:blipFill>
        <p:spPr>
          <a:xfrm>
            <a:off x="6515100" y="3476549"/>
            <a:ext cx="171907" cy="152705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6782105" y="3372307"/>
            <a:ext cx="44769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values in key sensors</a:t>
            </a:r>
            <a:endParaRPr lang="en-US" sz="1200" dirty="0"/>
          </a:p>
        </p:txBody>
      </p:sp>
      <p:sp>
        <p:nvSpPr>
          <p:cNvPr id="27" name="Text 15"/>
          <p:cNvSpPr txBox="1"/>
          <p:nvPr/>
        </p:nvSpPr>
        <p:spPr>
          <a:xfrm>
            <a:off x="6782105" y="3645713"/>
            <a:ext cx="50484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E.g., </a:t>
            </a:r>
            <a:r>
              <a:rPr lang="en-US" sz="10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coolant_flow</a:t>
            </a: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gaps — typical in real telemetry pipelines.</a:t>
            </a:r>
            <a:endParaRPr lang="en-US" sz="10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524244" y="4219956"/>
            <a:ext cx="152705" cy="152705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6782105" y="4114800"/>
            <a:ext cx="44769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 operating regimes + leakage risk</a:t>
            </a:r>
            <a:endParaRPr lang="en-US" sz="1200" dirty="0"/>
          </a:p>
        </p:txBody>
      </p:sp>
      <p:sp>
        <p:nvSpPr>
          <p:cNvPr id="30" name="Text 17"/>
          <p:cNvSpPr txBox="1"/>
          <p:nvPr/>
        </p:nvSpPr>
        <p:spPr>
          <a:xfrm>
            <a:off x="6782105" y="4389120"/>
            <a:ext cx="44394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machine types/shifts create clusters; random time-series splits can leak “future” behavior into training.</a:t>
            </a:r>
            <a:endParaRPr lang="en-US" sz="1000" dirty="0"/>
          </a:p>
        </p:txBody>
      </p:sp>
      <p:sp>
        <p:nvSpPr>
          <p:cNvPr id="31" name="Text 18"/>
          <p:cNvSpPr txBox="1"/>
          <p:nvPr/>
        </p:nvSpPr>
        <p:spPr>
          <a:xfrm>
            <a:off x="1600200" y="5658307"/>
            <a:ext cx="97539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Leakage-safe validation: </a:t>
            </a:r>
            <a:r>
              <a:rPr lang="en-US" sz="1300" b="1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machine-based train/test split</a:t>
            </a:r>
            <a:endParaRPr lang="en-US" sz="1300" dirty="0"/>
          </a:p>
        </p:txBody>
      </p:sp>
      <p:sp>
        <p:nvSpPr>
          <p:cNvPr id="32" name="Text 19"/>
          <p:cNvSpPr txBox="1"/>
          <p:nvPr/>
        </p:nvSpPr>
        <p:spPr>
          <a:xfrm>
            <a:off x="1600200" y="5946343"/>
            <a:ext cx="10195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 split by </a:t>
            </a: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machine_id</a:t>
            </a: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(entire machines held out), so performance reflects how the model works on </a:t>
            </a: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unseen assets</a:t>
            </a: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production. </a:t>
            </a:r>
            <a:endParaRPr lang="en-US" sz="1000" dirty="0"/>
          </a:p>
        </p:txBody>
      </p:sp>
      <p:sp>
        <p:nvSpPr>
          <p:cNvPr id="33" name="Text 20"/>
          <p:cNvSpPr txBox="1"/>
          <p:nvPr/>
        </p:nvSpPr>
        <p:spPr>
          <a:xfrm>
            <a:off x="1600200" y="6229807"/>
            <a:ext cx="97539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trustworthy generalization • avoids “memorizing” machines • aligns with real deployment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399" b="-399"/>
          <a:stretch/>
        </p:blipFill>
        <p:spPr>
          <a:xfrm>
            <a:off x="761695" y="1657807"/>
            <a:ext cx="10668305" cy="192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t="-6" b="-6"/>
          <a:stretch/>
        </p:blipFill>
        <p:spPr>
          <a:xfrm>
            <a:off x="761695" y="1867205"/>
            <a:ext cx="5219395" cy="483900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t="-6" b="-6"/>
          <a:stretch/>
        </p:blipFill>
        <p:spPr>
          <a:xfrm>
            <a:off x="6210605" y="1867205"/>
            <a:ext cx="5219395" cy="4839005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EDA Insights</a:t>
            </a:r>
            <a:endParaRPr lang="en-US" sz="2700" dirty="0"/>
          </a:p>
        </p:txBody>
      </p:sp>
      <p:sp>
        <p:nvSpPr>
          <p:cNvPr id="9" name="Text 3"/>
          <p:cNvSpPr txBox="1"/>
          <p:nvPr/>
        </p:nvSpPr>
        <p:spPr>
          <a:xfrm>
            <a:off x="761695" y="1047902"/>
            <a:ext cx="107826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data reveals about degradation patterns (signals that matter for business decisions)</a:t>
            </a:r>
            <a:endParaRPr lang="en-US" sz="12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43000" y="2286000"/>
            <a:ext cx="228600" cy="228600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1600200" y="2133295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that shaped our approach</a:t>
            </a:r>
            <a:endParaRPr lang="en-US" sz="1300" dirty="0"/>
          </a:p>
        </p:txBody>
      </p:sp>
      <p:sp>
        <p:nvSpPr>
          <p:cNvPr id="12" name="Shape 5"/>
          <p:cNvSpPr/>
          <p:nvPr/>
        </p:nvSpPr>
        <p:spPr>
          <a:xfrm>
            <a:off x="1047902" y="2638044"/>
            <a:ext cx="95098" cy="95098"/>
          </a:xfrm>
          <a:prstGeom prst="ellipse">
            <a:avLst/>
          </a:prstGeom>
          <a:solidFill>
            <a:srgbClr val="0EA5A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6"/>
          <p:cNvSpPr txBox="1"/>
          <p:nvPr/>
        </p:nvSpPr>
        <p:spPr>
          <a:xfrm>
            <a:off x="1238098" y="2572207"/>
            <a:ext cx="482711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 distribution is left-skewed (capped at “healthy” max)</a:t>
            </a:r>
            <a:endParaRPr lang="en-US" sz="1000" dirty="0"/>
          </a:p>
        </p:txBody>
      </p:sp>
      <p:sp>
        <p:nvSpPr>
          <p:cNvPr id="14" name="Text 7"/>
          <p:cNvSpPr txBox="1"/>
          <p:nvPr/>
        </p:nvSpPr>
        <p:spPr>
          <a:xfrm>
            <a:off x="1238098" y="2800807"/>
            <a:ext cx="4629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observations are in mid-life; failures appear as a sharp end-of-life region → focus accuracy near failure.</a:t>
            </a:r>
            <a:endParaRPr lang="en-US" sz="900" dirty="0"/>
          </a:p>
        </p:txBody>
      </p:sp>
      <p:sp>
        <p:nvSpPr>
          <p:cNvPr id="15" name="Shape 8"/>
          <p:cNvSpPr/>
          <p:nvPr/>
        </p:nvSpPr>
        <p:spPr>
          <a:xfrm>
            <a:off x="1047902" y="3345790"/>
            <a:ext cx="95098" cy="9509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9"/>
          <p:cNvSpPr txBox="1"/>
          <p:nvPr/>
        </p:nvSpPr>
        <p:spPr>
          <a:xfrm>
            <a:off x="1238098" y="3279038"/>
            <a:ext cx="46680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Temperatures rise as RUL approaches 0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1238098" y="3507638"/>
            <a:ext cx="4629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Thermal stress is a strong late-stage signal and helps confirm imminent failure risk.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1047902" y="4052621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2"/>
          <p:cNvSpPr txBox="1"/>
          <p:nvPr/>
        </p:nvSpPr>
        <p:spPr>
          <a:xfrm>
            <a:off x="1238098" y="3985870"/>
            <a:ext cx="46680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Vibration variance spikes near failure (“instability”)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1238098" y="4214470"/>
            <a:ext cx="4629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Rolling standard deviation becomes highly predictive → instability is often the earliest reliable warning.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1047902" y="4760366"/>
            <a:ext cx="95098" cy="9509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5"/>
          <p:cNvSpPr txBox="1"/>
          <p:nvPr/>
        </p:nvSpPr>
        <p:spPr>
          <a:xfrm>
            <a:off x="1238098" y="4693615"/>
            <a:ext cx="46680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Pressure trends decline toward failure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1238098" y="4922215"/>
            <a:ext cx="4629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Step-down behavior indicates pump/seal degradation patterns valuable for maintenance planning.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1047902" y="5467198"/>
            <a:ext cx="95098" cy="9509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8"/>
          <p:cNvSpPr txBox="1"/>
          <p:nvPr/>
        </p:nvSpPr>
        <p:spPr>
          <a:xfrm>
            <a:off x="1238098" y="5400446"/>
            <a:ext cx="46680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Anomaly flags correlate with lower average RUL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238098" y="5629046"/>
            <a:ext cx="4629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Anomaly = useful early-warning feature to prioritize inspection and reduce surprises.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047902" y="6108192"/>
            <a:ext cx="48198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Takeaway: degradation is non-linear; trend + instability features are more informative than raw sensor snapshots.</a:t>
            </a:r>
            <a:endParaRPr lang="en-US" sz="9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90995" y="2286000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048195" y="2133295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Degradation patterns (illustrative)</a:t>
            </a:r>
            <a:endParaRPr lang="en-US" sz="13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rcRect t="-2" b="-2"/>
          <a:stretch/>
        </p:blipFill>
        <p:spPr>
          <a:xfrm>
            <a:off x="6495898" y="2572207"/>
            <a:ext cx="4743907" cy="3143707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495898" y="5810098"/>
            <a:ext cx="48198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visual summarizes three common signals: </a:t>
            </a: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 drift</a:t>
            </a: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vibration instability</a:t>
            </a: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pressure decline</a:t>
            </a: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 failure approaches. 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6495898" y="6238951"/>
            <a:ext cx="48198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chart is illustrative to communicate patterns observed during EDA (not exact raw values).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399" b="-399"/>
          <a:stretch/>
        </p:blipFill>
        <p:spPr>
          <a:xfrm>
            <a:off x="761695" y="1657807"/>
            <a:ext cx="10668305" cy="192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952805" y="3504895"/>
            <a:ext cx="10287000" cy="38405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l="-5" r="-5"/>
          <a:stretch/>
        </p:blipFill>
        <p:spPr>
          <a:xfrm>
            <a:off x="761695" y="2018995"/>
            <a:ext cx="1981505" cy="2762402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33602" y="2190902"/>
            <a:ext cx="495605" cy="495605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/>
          <a:srcRect l="-5" r="-5"/>
          <a:stretch/>
        </p:blipFill>
        <p:spPr>
          <a:xfrm>
            <a:off x="2915107" y="2018995"/>
            <a:ext cx="1981505" cy="2762402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086100" y="2190902"/>
            <a:ext cx="495605" cy="495605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/>
          <a:srcRect l="-5" r="-5"/>
          <a:stretch/>
        </p:blipFill>
        <p:spPr>
          <a:xfrm>
            <a:off x="5067605" y="2018995"/>
            <a:ext cx="1981505" cy="2762402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238598" y="2190902"/>
            <a:ext cx="495605" cy="495605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2"/>
          <a:srcRect l="-5" r="-5"/>
          <a:stretch/>
        </p:blipFill>
        <p:spPr>
          <a:xfrm>
            <a:off x="7220102" y="2018995"/>
            <a:ext cx="1981505" cy="2762402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391095" y="2190902"/>
            <a:ext cx="495605" cy="495605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14"/>
          <a:srcRect t="-3" b="-3"/>
          <a:stretch/>
        </p:blipFill>
        <p:spPr>
          <a:xfrm>
            <a:off x="9372600" y="2018995"/>
            <a:ext cx="2057400" cy="2762402"/>
          </a:xfrm>
          <a:prstGeom prst="rect">
            <a:avLst/>
          </a:prstGeom>
        </p:spPr>
      </p:pic>
      <p:pic>
        <p:nvPicPr>
          <p:cNvPr id="16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544507" y="2190902"/>
            <a:ext cx="495605" cy="495605"/>
          </a:xfrm>
          <a:prstGeom prst="rect">
            <a:avLst/>
          </a:prstGeom>
        </p:spPr>
      </p:pic>
      <p:pic>
        <p:nvPicPr>
          <p:cNvPr id="17" name="Image 13" descr="preencoded.png"/>
          <p:cNvPicPr>
            <a:picLocks noChangeAspect="1"/>
          </p:cNvPicPr>
          <p:nvPr/>
        </p:nvPicPr>
        <p:blipFill>
          <a:blip r:embed="rId16"/>
          <a:srcRect l="-13" r="-13"/>
          <a:stretch/>
        </p:blipFill>
        <p:spPr>
          <a:xfrm>
            <a:off x="761695" y="5067605"/>
            <a:ext cx="10668305" cy="1333195"/>
          </a:xfrm>
          <a:prstGeom prst="rect">
            <a:avLst/>
          </a:prstGeom>
        </p:spPr>
      </p:pic>
      <p:sp>
        <p:nvSpPr>
          <p:cNvPr id="18" name="Text 2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 Approach (High-Level)</a:t>
            </a:r>
            <a:endParaRPr lang="en-US" sz="2700" dirty="0"/>
          </a:p>
        </p:txBody>
      </p:sp>
      <p:sp>
        <p:nvSpPr>
          <p:cNvPr id="19" name="Text 3"/>
          <p:cNvSpPr txBox="1"/>
          <p:nvPr/>
        </p:nvSpPr>
        <p:spPr>
          <a:xfrm>
            <a:off x="761695" y="1047902"/>
            <a:ext cx="107826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leakage-safe workflow that turns telemetry into </a:t>
            </a: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maintenance decisions </a:t>
            </a:r>
            <a:endParaRPr lang="en-US" sz="1200" dirty="0"/>
          </a:p>
        </p:txBody>
      </p:sp>
      <p:pic>
        <p:nvPicPr>
          <p:cNvPr id="20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076249" y="2333549"/>
            <a:ext cx="209398" cy="209398"/>
          </a:xfrm>
          <a:prstGeom prst="rect">
            <a:avLst/>
          </a:prstGeom>
        </p:spPr>
      </p:pic>
      <p:sp>
        <p:nvSpPr>
          <p:cNvPr id="21" name="Text 4"/>
          <p:cNvSpPr txBox="1"/>
          <p:nvPr/>
        </p:nvSpPr>
        <p:spPr>
          <a:xfrm>
            <a:off x="933602" y="2781605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 — Split</a:t>
            </a:r>
            <a:endParaRPr lang="en-US" sz="1000" dirty="0"/>
          </a:p>
        </p:txBody>
      </p:sp>
      <p:sp>
        <p:nvSpPr>
          <p:cNvPr id="22" name="Text 5"/>
          <p:cNvSpPr txBox="1"/>
          <p:nvPr/>
        </p:nvSpPr>
        <p:spPr>
          <a:xfrm>
            <a:off x="933602" y="3029407"/>
            <a:ext cx="1714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machine_id split</a:t>
            </a:r>
            <a:endParaRPr lang="en-US" sz="900" dirty="0"/>
          </a:p>
        </p:txBody>
      </p:sp>
      <p:sp>
        <p:nvSpPr>
          <p:cNvPr id="23" name="Text 6"/>
          <p:cNvSpPr txBox="1"/>
          <p:nvPr/>
        </p:nvSpPr>
        <p:spPr>
          <a:xfrm>
            <a:off x="933602" y="3278124"/>
            <a:ext cx="170444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data leakage by ensuring test machines are truly unseen.</a:t>
            </a:r>
            <a:endParaRPr lang="en-US" sz="900" dirty="0"/>
          </a:p>
        </p:txBody>
      </p:sp>
      <p:sp>
        <p:nvSpPr>
          <p:cNvPr id="24" name="Text 7"/>
          <p:cNvSpPr txBox="1"/>
          <p:nvPr/>
        </p:nvSpPr>
        <p:spPr>
          <a:xfrm>
            <a:off x="933602" y="3926434"/>
            <a:ext cx="17044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A5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realistic generalization</a:t>
            </a:r>
            <a:endParaRPr lang="en-US" sz="900" dirty="0"/>
          </a:p>
        </p:txBody>
      </p:sp>
      <p:pic>
        <p:nvPicPr>
          <p:cNvPr id="25" name="Image 15" descr="preencoded.png"/>
          <p:cNvPicPr>
            <a:picLocks noChangeAspect="1"/>
          </p:cNvPicPr>
          <p:nvPr/>
        </p:nvPicPr>
        <p:blipFill>
          <a:blip r:embed="rId18"/>
          <a:srcRect l="-461" r="-461"/>
          <a:stretch/>
        </p:blipFill>
        <p:spPr>
          <a:xfrm>
            <a:off x="3215030" y="2333549"/>
            <a:ext cx="237744" cy="209398"/>
          </a:xfrm>
          <a:prstGeom prst="rect">
            <a:avLst/>
          </a:prstGeom>
        </p:spPr>
      </p:pic>
      <p:sp>
        <p:nvSpPr>
          <p:cNvPr id="26" name="Text 8"/>
          <p:cNvSpPr txBox="1"/>
          <p:nvPr/>
        </p:nvSpPr>
        <p:spPr>
          <a:xfrm>
            <a:off x="3086100" y="2781605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 — Domain</a:t>
            </a:r>
            <a:endParaRPr lang="en-US" sz="1000" dirty="0"/>
          </a:p>
        </p:txBody>
      </p:sp>
      <p:sp>
        <p:nvSpPr>
          <p:cNvPr id="27" name="Text 9"/>
          <p:cNvSpPr txBox="1"/>
          <p:nvPr/>
        </p:nvSpPr>
        <p:spPr>
          <a:xfrm>
            <a:off x="3086100" y="3029407"/>
            <a:ext cx="1714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Stress features</a:t>
            </a:r>
            <a:endParaRPr lang="en-US" sz="900" dirty="0"/>
          </a:p>
        </p:txBody>
      </p:sp>
      <p:sp>
        <p:nvSpPr>
          <p:cNvPr id="28" name="Text 10"/>
          <p:cNvSpPr txBox="1"/>
          <p:nvPr/>
        </p:nvSpPr>
        <p:spPr>
          <a:xfrm>
            <a:off x="3086100" y="3278124"/>
            <a:ext cx="170444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Thermal • Mechanical • Electrical • Environment • Age-normalized ratios.</a:t>
            </a:r>
            <a:endParaRPr lang="en-US" sz="900" dirty="0"/>
          </a:p>
        </p:txBody>
      </p:sp>
      <p:sp>
        <p:nvSpPr>
          <p:cNvPr id="29" name="Text 11"/>
          <p:cNvSpPr txBox="1"/>
          <p:nvPr/>
        </p:nvSpPr>
        <p:spPr>
          <a:xfrm>
            <a:off x="3086100" y="3926434"/>
            <a:ext cx="19504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wear &amp; tear signals</a:t>
            </a:r>
            <a:endParaRPr lang="en-US" sz="900" dirty="0"/>
          </a:p>
        </p:txBody>
      </p:sp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5367528" y="2343607"/>
            <a:ext cx="237744" cy="190195"/>
          </a:xfrm>
          <a:prstGeom prst="rect">
            <a:avLst/>
          </a:prstGeom>
        </p:spPr>
      </p:pic>
      <p:sp>
        <p:nvSpPr>
          <p:cNvPr id="31" name="Text 12"/>
          <p:cNvSpPr txBox="1"/>
          <p:nvPr/>
        </p:nvSpPr>
        <p:spPr>
          <a:xfrm>
            <a:off x="5238598" y="2781605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 — Time</a:t>
            </a:r>
            <a:endParaRPr lang="en-US" sz="1000" dirty="0"/>
          </a:p>
        </p:txBody>
      </p:sp>
      <p:sp>
        <p:nvSpPr>
          <p:cNvPr id="32" name="Text 13"/>
          <p:cNvSpPr txBox="1"/>
          <p:nvPr/>
        </p:nvSpPr>
        <p:spPr>
          <a:xfrm>
            <a:off x="5238598" y="3029407"/>
            <a:ext cx="1754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Rolling &amp; lag features</a:t>
            </a:r>
            <a:endParaRPr lang="en-US" sz="900" dirty="0"/>
          </a:p>
        </p:txBody>
      </p:sp>
      <p:sp>
        <p:nvSpPr>
          <p:cNvPr id="33" name="Text 14"/>
          <p:cNvSpPr txBox="1"/>
          <p:nvPr/>
        </p:nvSpPr>
        <p:spPr>
          <a:xfrm>
            <a:off x="5238598" y="3278124"/>
            <a:ext cx="170444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Post-split 5-cycle rolling mean/std + lag-1 to capture trend + instability.</a:t>
            </a:r>
            <a:endParaRPr lang="en-US" sz="900" dirty="0"/>
          </a:p>
        </p:txBody>
      </p:sp>
      <p:sp>
        <p:nvSpPr>
          <p:cNvPr id="34" name="Text 15"/>
          <p:cNvSpPr txBox="1"/>
          <p:nvPr/>
        </p:nvSpPr>
        <p:spPr>
          <a:xfrm>
            <a:off x="5238598" y="3926434"/>
            <a:ext cx="17044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degradation “memory”</a:t>
            </a:r>
            <a:endParaRPr lang="en-US" sz="900" dirty="0"/>
          </a:p>
        </p:txBody>
      </p:sp>
      <p:pic>
        <p:nvPicPr>
          <p:cNvPr id="35" name="Image 1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539228" y="2338121"/>
            <a:ext cx="200254" cy="200254"/>
          </a:xfrm>
          <a:prstGeom prst="rect">
            <a:avLst/>
          </a:prstGeom>
        </p:spPr>
      </p:pic>
      <p:sp>
        <p:nvSpPr>
          <p:cNvPr id="36" name="Text 16"/>
          <p:cNvSpPr txBox="1"/>
          <p:nvPr/>
        </p:nvSpPr>
        <p:spPr>
          <a:xfrm>
            <a:off x="7391095" y="2781605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 — Model</a:t>
            </a:r>
            <a:endParaRPr lang="en-US" sz="1000" dirty="0"/>
          </a:p>
        </p:txBody>
      </p:sp>
      <p:sp>
        <p:nvSpPr>
          <p:cNvPr id="37" name="Text 17"/>
          <p:cNvSpPr txBox="1"/>
          <p:nvPr/>
        </p:nvSpPr>
        <p:spPr>
          <a:xfrm>
            <a:off x="7391095" y="3029407"/>
            <a:ext cx="1714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Ridge → RF → XGBoost</a:t>
            </a:r>
            <a:endParaRPr lang="en-US" sz="900" dirty="0"/>
          </a:p>
        </p:txBody>
      </p:sp>
      <p:sp>
        <p:nvSpPr>
          <p:cNvPr id="38" name="Text 18"/>
          <p:cNvSpPr txBox="1"/>
          <p:nvPr/>
        </p:nvSpPr>
        <p:spPr>
          <a:xfrm>
            <a:off x="7391095" y="3278124"/>
            <a:ext cx="170444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 from baseline to non-linear models; XGBoost selected for strongest generalization.</a:t>
            </a:r>
            <a:endParaRPr lang="en-US" sz="900" dirty="0"/>
          </a:p>
        </p:txBody>
      </p:sp>
      <p:sp>
        <p:nvSpPr>
          <p:cNvPr id="39" name="Text 19"/>
          <p:cNvSpPr txBox="1"/>
          <p:nvPr/>
        </p:nvSpPr>
        <p:spPr>
          <a:xfrm>
            <a:off x="7391095" y="4111142"/>
            <a:ext cx="17044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best fit to non-linearity</a:t>
            </a:r>
            <a:endParaRPr lang="en-US" sz="900" dirty="0"/>
          </a:p>
        </p:txBody>
      </p:sp>
      <p:pic>
        <p:nvPicPr>
          <p:cNvPr id="40" name="Image 18" descr="preencoded.png"/>
          <p:cNvPicPr>
            <a:picLocks noChangeAspect="1"/>
          </p:cNvPicPr>
          <p:nvPr/>
        </p:nvPicPr>
        <p:blipFill>
          <a:blip r:embed="rId21"/>
          <a:srcRect t="-507" b="-507"/>
          <a:stretch/>
        </p:blipFill>
        <p:spPr>
          <a:xfrm>
            <a:off x="9667951" y="2338121"/>
            <a:ext cx="247802" cy="200254"/>
          </a:xfrm>
          <a:prstGeom prst="rect">
            <a:avLst/>
          </a:prstGeom>
        </p:spPr>
      </p:pic>
      <p:sp>
        <p:nvSpPr>
          <p:cNvPr id="41" name="Text 20"/>
          <p:cNvSpPr txBox="1"/>
          <p:nvPr/>
        </p:nvSpPr>
        <p:spPr>
          <a:xfrm>
            <a:off x="9544507" y="2781605"/>
            <a:ext cx="1791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5 — Action</a:t>
            </a:r>
            <a:endParaRPr lang="en-US" sz="1000" dirty="0"/>
          </a:p>
        </p:txBody>
      </p:sp>
      <p:sp>
        <p:nvSpPr>
          <p:cNvPr id="42" name="Text 21"/>
          <p:cNvSpPr txBox="1"/>
          <p:nvPr/>
        </p:nvSpPr>
        <p:spPr>
          <a:xfrm>
            <a:off x="9544507" y="3029407"/>
            <a:ext cx="198790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layer + Risk bands</a:t>
            </a:r>
            <a:endParaRPr lang="en-US" sz="900" dirty="0"/>
          </a:p>
        </p:txBody>
      </p:sp>
      <p:sp>
        <p:nvSpPr>
          <p:cNvPr id="43" name="Text 22"/>
          <p:cNvSpPr txBox="1"/>
          <p:nvPr/>
        </p:nvSpPr>
        <p:spPr>
          <a:xfrm>
            <a:off x="9544507" y="3278124"/>
            <a:ext cx="178308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Clip predictions to </a:t>
            </a: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0–300</a:t>
            </a: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cycles; translate to CRITICAL / HIGH / MEDIUM / SAFE. </a:t>
            </a:r>
            <a:endParaRPr lang="en-US" sz="900" dirty="0"/>
          </a:p>
        </p:txBody>
      </p:sp>
      <p:sp>
        <p:nvSpPr>
          <p:cNvPr id="44" name="Text 23"/>
          <p:cNvSpPr txBox="1"/>
          <p:nvPr/>
        </p:nvSpPr>
        <p:spPr>
          <a:xfrm>
            <a:off x="9544507" y="3926434"/>
            <a:ext cx="17830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operational decisions</a:t>
            </a:r>
            <a:endParaRPr lang="en-US" sz="900" dirty="0"/>
          </a:p>
        </p:txBody>
      </p:sp>
      <p:pic>
        <p:nvPicPr>
          <p:cNvPr id="45" name="Image 19" descr="preencoded.png"/>
          <p:cNvPicPr>
            <a:picLocks noChangeAspect="1"/>
          </p:cNvPicPr>
          <p:nvPr/>
        </p:nvPicPr>
        <p:blipFill>
          <a:blip r:embed="rId22"/>
          <a:srcRect l="-760" r="-760"/>
          <a:stretch/>
        </p:blipFill>
        <p:spPr>
          <a:xfrm>
            <a:off x="2743200" y="3276295"/>
            <a:ext cx="152705" cy="171907"/>
          </a:xfrm>
          <a:prstGeom prst="rect">
            <a:avLst/>
          </a:prstGeom>
        </p:spPr>
      </p:pic>
      <p:pic>
        <p:nvPicPr>
          <p:cNvPr id="46" name="Image 20" descr="preencoded.png"/>
          <p:cNvPicPr>
            <a:picLocks noChangeAspect="1"/>
          </p:cNvPicPr>
          <p:nvPr/>
        </p:nvPicPr>
        <p:blipFill>
          <a:blip r:embed="rId22"/>
          <a:srcRect l="-760" r="-760"/>
          <a:stretch/>
        </p:blipFill>
        <p:spPr>
          <a:xfrm>
            <a:off x="4895698" y="3276295"/>
            <a:ext cx="152705" cy="171907"/>
          </a:xfrm>
          <a:prstGeom prst="rect">
            <a:avLst/>
          </a:prstGeom>
        </p:spPr>
      </p:pic>
      <p:pic>
        <p:nvPicPr>
          <p:cNvPr id="47" name="Image 21" descr="preencoded.png"/>
          <p:cNvPicPr>
            <a:picLocks noChangeAspect="1"/>
          </p:cNvPicPr>
          <p:nvPr/>
        </p:nvPicPr>
        <p:blipFill>
          <a:blip r:embed="rId22"/>
          <a:srcRect l="-760" r="-760"/>
          <a:stretch/>
        </p:blipFill>
        <p:spPr>
          <a:xfrm>
            <a:off x="7048195" y="3276295"/>
            <a:ext cx="152705" cy="171907"/>
          </a:xfrm>
          <a:prstGeom prst="rect">
            <a:avLst/>
          </a:prstGeom>
        </p:spPr>
      </p:pic>
      <p:pic>
        <p:nvPicPr>
          <p:cNvPr id="48" name="Image 22" descr="preencoded.png"/>
          <p:cNvPicPr>
            <a:picLocks noChangeAspect="1"/>
          </p:cNvPicPr>
          <p:nvPr/>
        </p:nvPicPr>
        <p:blipFill>
          <a:blip r:embed="rId22"/>
          <a:srcRect l="-760" r="-760"/>
          <a:stretch/>
        </p:blipFill>
        <p:spPr>
          <a:xfrm>
            <a:off x="9201607" y="3276295"/>
            <a:ext cx="152705" cy="171907"/>
          </a:xfrm>
          <a:prstGeom prst="rect">
            <a:avLst/>
          </a:prstGeom>
        </p:spPr>
      </p:pic>
      <p:pic>
        <p:nvPicPr>
          <p:cNvPr id="49" name="Image 23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1123798" y="5505602"/>
            <a:ext cx="228600" cy="228600"/>
          </a:xfrm>
          <a:prstGeom prst="rect">
            <a:avLst/>
          </a:prstGeom>
        </p:spPr>
      </p:pic>
      <p:sp>
        <p:nvSpPr>
          <p:cNvPr id="50" name="Text 24"/>
          <p:cNvSpPr txBox="1"/>
          <p:nvPr/>
        </p:nvSpPr>
        <p:spPr>
          <a:xfrm>
            <a:off x="1600200" y="5296205"/>
            <a:ext cx="96396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makes this approach reliable for a real factory setting?</a:t>
            </a:r>
            <a:endParaRPr lang="en-US" sz="1300" dirty="0"/>
          </a:p>
        </p:txBody>
      </p:sp>
      <p:sp>
        <p:nvSpPr>
          <p:cNvPr id="51" name="Text 25"/>
          <p:cNvSpPr txBox="1"/>
          <p:nvPr/>
        </p:nvSpPr>
        <p:spPr>
          <a:xfrm>
            <a:off x="1600200" y="5603443"/>
            <a:ext cx="102111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workflow explicitly </a:t>
            </a: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leakage</a:t>
            </a: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learns </a:t>
            </a: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degradation trends</a:t>
            </a: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converts predictions into </a:t>
            </a: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risk-based actions</a:t>
            </a: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aligned to uptime and safety. </a:t>
            </a:r>
            <a:endParaRPr lang="en-US" sz="1000" dirty="0"/>
          </a:p>
        </p:txBody>
      </p:sp>
      <p:sp>
        <p:nvSpPr>
          <p:cNvPr id="52" name="Text 26"/>
          <p:cNvSpPr txBox="1"/>
          <p:nvPr/>
        </p:nvSpPr>
        <p:spPr>
          <a:xfrm>
            <a:off x="1600200" y="5893308"/>
            <a:ext cx="9639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A5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lens: prioritize catching imminent failures over “perfect” long-horizon estimates.</a:t>
            </a:r>
            <a:endParaRPr lang="en-US" sz="900" dirty="0"/>
          </a:p>
        </p:txBody>
      </p:sp>
      <p:sp>
        <p:nvSpPr>
          <p:cNvPr id="53" name="Text 27"/>
          <p:cNvSpPr txBox="1"/>
          <p:nvPr/>
        </p:nvSpPr>
        <p:spPr>
          <a:xfrm>
            <a:off x="761695" y="6572707"/>
            <a:ext cx="10782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Temporal features are engineered after the machine-based split to preserve causality and ensure evaluation matches deployment reality.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399" b="-399"/>
          <a:stretch/>
        </p:blipFill>
        <p:spPr>
          <a:xfrm>
            <a:off x="761695" y="1676095"/>
            <a:ext cx="10668305" cy="192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l="-1" r="-1"/>
          <a:stretch/>
        </p:blipFill>
        <p:spPr>
          <a:xfrm>
            <a:off x="761695" y="1952244"/>
            <a:ext cx="10668305" cy="11430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t="-9" b="-9"/>
          <a:stretch/>
        </p:blipFill>
        <p:spPr>
          <a:xfrm>
            <a:off x="761695" y="3247949"/>
            <a:ext cx="10668305" cy="1524305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 t="-15" b="-15"/>
          <a:stretch/>
        </p:blipFill>
        <p:spPr>
          <a:xfrm>
            <a:off x="761695" y="4943246"/>
            <a:ext cx="10668305" cy="1429207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Engineering Highlights</a:t>
            </a:r>
            <a:endParaRPr lang="en-US" sz="2700" dirty="0"/>
          </a:p>
        </p:txBody>
      </p:sp>
      <p:sp>
        <p:nvSpPr>
          <p:cNvPr id="10" name="Text 3"/>
          <p:cNvSpPr txBox="1"/>
          <p:nvPr/>
        </p:nvSpPr>
        <p:spPr>
          <a:xfrm>
            <a:off x="761695" y="1067105"/>
            <a:ext cx="10782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Translating raw telemetry into degradation signals (domain stress + temporal instability)</a:t>
            </a:r>
            <a:endParaRPr lang="en-US" sz="120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114654" y="2352751"/>
            <a:ext cx="247802" cy="247802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1600200" y="2115007"/>
            <a:ext cx="9715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Thermal stress (overheating signal)</a:t>
            </a:r>
            <a:endParaRPr lang="en-US" sz="1300" dirty="0"/>
          </a:p>
        </p:txBody>
      </p:sp>
      <p:sp>
        <p:nvSpPr>
          <p:cNvPr id="13" name="Text 5"/>
          <p:cNvSpPr txBox="1"/>
          <p:nvPr/>
        </p:nvSpPr>
        <p:spPr>
          <a:xfrm>
            <a:off x="1600200" y="2422246"/>
            <a:ext cx="9715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temp_delta_1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temperature − ambient (corr </a:t>
            </a: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−0.57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• </a:t>
            </a: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temp_delta_2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temperature_2 − ambient (corr </a:t>
            </a: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−0.58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</a:t>
            </a:r>
            <a:endParaRPr lang="en-US" sz="1200" dirty="0"/>
          </a:p>
        </p:txBody>
      </p:sp>
      <p:sp>
        <p:nvSpPr>
          <p:cNvPr id="14" name="Text 6"/>
          <p:cNvSpPr txBox="1"/>
          <p:nvPr/>
        </p:nvSpPr>
        <p:spPr>
          <a:xfrm>
            <a:off x="1600200" y="2734970"/>
            <a:ext cx="9715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EA5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deltas → poorer heat dissipation → lower RUL</a:t>
            </a:r>
            <a:endParaRPr lang="en-US" sz="10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1095451" y="3810305"/>
            <a:ext cx="286207" cy="228600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600200" y="3448202"/>
            <a:ext cx="9715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Mechanical strain + age-normalized stress (wear &amp; efficiency)</a:t>
            </a:r>
            <a:endParaRPr lang="en-US" sz="1300" dirty="0"/>
          </a:p>
        </p:txBody>
      </p:sp>
      <p:sp>
        <p:nvSpPr>
          <p:cNvPr id="17" name="Text 8"/>
          <p:cNvSpPr txBox="1"/>
          <p:nvPr/>
        </p:nvSpPr>
        <p:spPr>
          <a:xfrm>
            <a:off x="1600200" y="3755441"/>
            <a:ext cx="9715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torque_per_rpm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(corr </a:t>
            </a: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−0.59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and </a:t>
            </a: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vibration_per_load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capture overload / friction / abnormal vibration. </a:t>
            </a:r>
            <a:endParaRPr lang="en-US" sz="1200" dirty="0"/>
          </a:p>
        </p:txBody>
      </p:sp>
      <p:sp>
        <p:nvSpPr>
          <p:cNvPr id="18" name="Text 9"/>
          <p:cNvSpPr txBox="1"/>
          <p:nvPr/>
        </p:nvSpPr>
        <p:spPr>
          <a:xfrm>
            <a:off x="1600200" y="4068166"/>
            <a:ext cx="9715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load_per_age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(corr </a:t>
            </a: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+0.40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• </a:t>
            </a: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vibration_per_age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(corr </a:t>
            </a:r>
            <a:r>
              <a:rPr lang="en-US" sz="12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+0.39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</a:t>
            </a:r>
            <a:endParaRPr lang="en-US" sz="1200" dirty="0"/>
          </a:p>
        </p:txBody>
      </p:sp>
      <p:sp>
        <p:nvSpPr>
          <p:cNvPr id="19" name="Text 10"/>
          <p:cNvSpPr txBox="1"/>
          <p:nvPr/>
        </p:nvSpPr>
        <p:spPr>
          <a:xfrm>
            <a:off x="1600200" y="4380890"/>
            <a:ext cx="9715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Normalizes behavior by usage/age → improves comparability across machines</a:t>
            </a:r>
            <a:endParaRPr lang="en-US" sz="10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rcRect l="-80" r="-80"/>
          <a:stretch/>
        </p:blipFill>
        <p:spPr>
          <a:xfrm>
            <a:off x="1095451" y="5419649"/>
            <a:ext cx="286207" cy="22860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1600200" y="5143500"/>
            <a:ext cx="9715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Temporal stability (trend + instability signals)</a:t>
            </a:r>
            <a:endParaRPr lang="en-US" sz="1300" dirty="0"/>
          </a:p>
        </p:txBody>
      </p:sp>
      <p:sp>
        <p:nvSpPr>
          <p:cNvPr id="22" name="Text 12"/>
          <p:cNvSpPr txBox="1"/>
          <p:nvPr/>
        </p:nvSpPr>
        <p:spPr>
          <a:xfrm>
            <a:off x="1600200" y="5450738"/>
            <a:ext cx="1026414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Built </a:t>
            </a: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5-cycle rolling mean/std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lag-1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features per machine to capture gradual degradation + variance spikes. </a:t>
            </a:r>
            <a:endParaRPr lang="en-US" sz="1200" dirty="0"/>
          </a:p>
        </p:txBody>
      </p:sp>
      <p:sp>
        <p:nvSpPr>
          <p:cNvPr id="23" name="Text 13"/>
          <p:cNvSpPr txBox="1"/>
          <p:nvPr/>
        </p:nvSpPr>
        <p:spPr>
          <a:xfrm>
            <a:off x="1600200" y="5789981"/>
            <a:ext cx="9715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Example: </a:t>
            </a: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temperature_roll_mean</a:t>
            </a:r>
            <a:r>
              <a:rPr lang="en-US" sz="11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(corr −0.24) indicates sustained heating before failure. </a:t>
            </a:r>
            <a:endParaRPr lang="en-US" sz="1100" dirty="0"/>
          </a:p>
        </p:txBody>
      </p:sp>
      <p:sp>
        <p:nvSpPr>
          <p:cNvPr id="24" name="Text 14"/>
          <p:cNvSpPr txBox="1"/>
          <p:nvPr/>
        </p:nvSpPr>
        <p:spPr>
          <a:xfrm>
            <a:off x="1600200" y="6099962"/>
            <a:ext cx="9715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smoother trends + early-warning instability → better RUL prediction</a:t>
            </a:r>
            <a:endParaRPr lang="en-US" sz="1000" dirty="0"/>
          </a:p>
        </p:txBody>
      </p:sp>
      <p:sp>
        <p:nvSpPr>
          <p:cNvPr id="25" name="Text 15"/>
          <p:cNvSpPr txBox="1"/>
          <p:nvPr/>
        </p:nvSpPr>
        <p:spPr>
          <a:xfrm>
            <a:off x="761695" y="6553505"/>
            <a:ext cx="1133307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engineered features convert noisy sensor readings into interpretable “stress” and “instability” signals that align with real machine degradation.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399" b="-399"/>
          <a:stretch/>
        </p:blipFill>
        <p:spPr>
          <a:xfrm>
            <a:off x="761695" y="1657807"/>
            <a:ext cx="10668305" cy="192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761695" y="1867205"/>
            <a:ext cx="3429000" cy="4095598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l="-2" r="-2"/>
          <a:stretch/>
        </p:blipFill>
        <p:spPr>
          <a:xfrm>
            <a:off x="4381805" y="1867205"/>
            <a:ext cx="3429000" cy="4095598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 l="-2" r="-2"/>
          <a:stretch/>
        </p:blipFill>
        <p:spPr>
          <a:xfrm>
            <a:off x="8001000" y="1867205"/>
            <a:ext cx="3429000" cy="4095598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/>
          <a:srcRect t="-21" b="-21"/>
          <a:stretch/>
        </p:blipFill>
        <p:spPr>
          <a:xfrm>
            <a:off x="1047902" y="2723998"/>
            <a:ext cx="2857500" cy="724205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8"/>
          <a:srcRect t="-21" b="-21"/>
          <a:stretch/>
        </p:blipFill>
        <p:spPr>
          <a:xfrm>
            <a:off x="4667098" y="2723998"/>
            <a:ext cx="2857500" cy="724205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9"/>
          <a:srcRect t="-21" b="-21"/>
          <a:stretch/>
        </p:blipFill>
        <p:spPr>
          <a:xfrm>
            <a:off x="8287207" y="2723998"/>
            <a:ext cx="2857500" cy="724205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0"/>
          <a:srcRect t="-75" b="-75"/>
          <a:stretch/>
        </p:blipFill>
        <p:spPr>
          <a:xfrm>
            <a:off x="9773107" y="2000707"/>
            <a:ext cx="1505102" cy="286207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1"/>
          <a:srcRect t="-24" b="-24"/>
          <a:stretch/>
        </p:blipFill>
        <p:spPr>
          <a:xfrm>
            <a:off x="761695" y="6096305"/>
            <a:ext cx="10668305" cy="609905"/>
          </a:xfrm>
          <a:prstGeom prst="rect">
            <a:avLst/>
          </a:prstGeom>
        </p:spPr>
      </p:pic>
      <p:sp>
        <p:nvSpPr>
          <p:cNvPr id="14" name="Text 2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Comparison &amp; Selection</a:t>
            </a:r>
            <a:endParaRPr lang="en-US" sz="2700" dirty="0"/>
          </a:p>
        </p:txBody>
      </p:sp>
      <p:sp>
        <p:nvSpPr>
          <p:cNvPr id="15" name="Text 3"/>
          <p:cNvSpPr txBox="1"/>
          <p:nvPr/>
        </p:nvSpPr>
        <p:spPr>
          <a:xfrm>
            <a:off x="761695" y="1047902"/>
            <a:ext cx="113541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 evaluated three models on </a:t>
            </a: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unseen machines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RMSE (lower is better) and selected the most reliable option for operations. </a:t>
            </a:r>
            <a:endParaRPr lang="en-US" sz="1200" dirty="0"/>
          </a:p>
        </p:txBody>
      </p:sp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12"/>
          <a:srcRect l="-1004" r="-1004"/>
          <a:stretch/>
        </p:blipFill>
        <p:spPr>
          <a:xfrm>
            <a:off x="1104595" y="2238451"/>
            <a:ext cx="267005" cy="209398"/>
          </a:xfrm>
          <a:prstGeom prst="rect">
            <a:avLst/>
          </a:prstGeom>
        </p:spPr>
      </p:pic>
      <p:pic>
        <p:nvPicPr>
          <p:cNvPr id="17" name="Image 11" descr="preencoded.png"/>
          <p:cNvPicPr>
            <a:picLocks noChangeAspect="1"/>
          </p:cNvPicPr>
          <p:nvPr/>
        </p:nvPicPr>
        <p:blipFill>
          <a:blip r:embed="rId13"/>
          <a:srcRect t="-600" b="-600"/>
          <a:stretch/>
        </p:blipFill>
        <p:spPr>
          <a:xfrm>
            <a:off x="4767682" y="2238451"/>
            <a:ext cx="181051" cy="209398"/>
          </a:xfrm>
          <a:prstGeom prst="rect">
            <a:avLst/>
          </a:prstGeom>
        </p:spPr>
      </p:pic>
      <p:pic>
        <p:nvPicPr>
          <p:cNvPr id="18" name="Image 12" descr="preencoded.png"/>
          <p:cNvPicPr>
            <a:picLocks noChangeAspect="1"/>
          </p:cNvPicPr>
          <p:nvPr/>
        </p:nvPicPr>
        <p:blipFill>
          <a:blip r:embed="rId14"/>
          <a:srcRect t="-600" b="-600"/>
          <a:stretch/>
        </p:blipFill>
        <p:spPr>
          <a:xfrm>
            <a:off x="8386877" y="2238451"/>
            <a:ext cx="181051" cy="209398"/>
          </a:xfrm>
          <a:prstGeom prst="rect">
            <a:avLst/>
          </a:prstGeom>
        </p:spPr>
      </p:pic>
      <p:sp>
        <p:nvSpPr>
          <p:cNvPr id="19" name="Text 4"/>
          <p:cNvSpPr txBox="1"/>
          <p:nvPr/>
        </p:nvSpPr>
        <p:spPr>
          <a:xfrm>
            <a:off x="1485900" y="2095805"/>
            <a:ext cx="2575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Ridge Regression</a:t>
            </a:r>
            <a:endParaRPr lang="en-US" sz="1300" dirty="0"/>
          </a:p>
        </p:txBody>
      </p:sp>
      <p:sp>
        <p:nvSpPr>
          <p:cNvPr id="20" name="Text 5"/>
          <p:cNvSpPr txBox="1"/>
          <p:nvPr/>
        </p:nvSpPr>
        <p:spPr>
          <a:xfrm>
            <a:off x="1485900" y="2348179"/>
            <a:ext cx="257586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(linear + stable)</a:t>
            </a:r>
            <a:endParaRPr lang="en-US" sz="900" dirty="0"/>
          </a:p>
        </p:txBody>
      </p:sp>
      <p:sp>
        <p:nvSpPr>
          <p:cNvPr id="21" name="Text 6"/>
          <p:cNvSpPr txBox="1"/>
          <p:nvPr/>
        </p:nvSpPr>
        <p:spPr>
          <a:xfrm>
            <a:off x="5105095" y="2095805"/>
            <a:ext cx="2575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2" name="Text 7"/>
          <p:cNvSpPr txBox="1"/>
          <p:nvPr/>
        </p:nvSpPr>
        <p:spPr>
          <a:xfrm>
            <a:off x="5105095" y="2348179"/>
            <a:ext cx="257586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Non-linear ensemble</a:t>
            </a:r>
            <a:endParaRPr lang="en-US" sz="900" dirty="0"/>
          </a:p>
        </p:txBody>
      </p:sp>
      <p:sp>
        <p:nvSpPr>
          <p:cNvPr id="23" name="Text 8"/>
          <p:cNvSpPr txBox="1"/>
          <p:nvPr/>
        </p:nvSpPr>
        <p:spPr>
          <a:xfrm>
            <a:off x="8725205" y="2095805"/>
            <a:ext cx="2477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</a:t>
            </a:r>
            <a:endParaRPr lang="en-US" sz="1300" dirty="0"/>
          </a:p>
        </p:txBody>
      </p:sp>
      <p:sp>
        <p:nvSpPr>
          <p:cNvPr id="24" name="Text 9"/>
          <p:cNvSpPr txBox="1"/>
          <p:nvPr/>
        </p:nvSpPr>
        <p:spPr>
          <a:xfrm>
            <a:off x="8725205" y="2348179"/>
            <a:ext cx="2477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model (selected)</a:t>
            </a:r>
            <a:endParaRPr lang="en-US" sz="900" dirty="0"/>
          </a:p>
        </p:txBody>
      </p:sp>
      <p:sp>
        <p:nvSpPr>
          <p:cNvPr id="25" name="Text 10"/>
          <p:cNvSpPr txBox="1"/>
          <p:nvPr/>
        </p:nvSpPr>
        <p:spPr>
          <a:xfrm>
            <a:off x="1181405" y="2838298"/>
            <a:ext cx="269473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RMSE (Train / Test)</a:t>
            </a:r>
            <a:endParaRPr lang="en-US" sz="900" dirty="0"/>
          </a:p>
        </p:txBody>
      </p:sp>
      <p:sp>
        <p:nvSpPr>
          <p:cNvPr id="26" name="Text 11"/>
          <p:cNvSpPr txBox="1"/>
          <p:nvPr/>
        </p:nvSpPr>
        <p:spPr>
          <a:xfrm>
            <a:off x="1181405" y="3044038"/>
            <a:ext cx="269473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19.03 </a:t>
            </a:r>
            <a:r>
              <a:rPr lang="en-US" sz="16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18.91 </a:t>
            </a:r>
            <a:endParaRPr lang="en-US" sz="1600" dirty="0"/>
          </a:p>
        </p:txBody>
      </p:sp>
      <p:sp>
        <p:nvSpPr>
          <p:cNvPr id="27" name="Text 12"/>
          <p:cNvSpPr txBox="1"/>
          <p:nvPr/>
        </p:nvSpPr>
        <p:spPr>
          <a:xfrm>
            <a:off x="4800600" y="2838298"/>
            <a:ext cx="269473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RMSE (Train / Test)</a:t>
            </a:r>
            <a:endParaRPr lang="en-US" sz="900" dirty="0"/>
          </a:p>
        </p:txBody>
      </p:sp>
      <p:sp>
        <p:nvSpPr>
          <p:cNvPr id="28" name="Text 13"/>
          <p:cNvSpPr txBox="1"/>
          <p:nvPr/>
        </p:nvSpPr>
        <p:spPr>
          <a:xfrm>
            <a:off x="4800600" y="3044038"/>
            <a:ext cx="269473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18.17 </a:t>
            </a:r>
            <a:r>
              <a:rPr lang="en-US" sz="16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18.93 </a:t>
            </a:r>
            <a:endParaRPr lang="en-US" sz="1600" dirty="0"/>
          </a:p>
        </p:txBody>
      </p:sp>
      <p:sp>
        <p:nvSpPr>
          <p:cNvPr id="29" name="Text 14"/>
          <p:cNvSpPr txBox="1"/>
          <p:nvPr/>
        </p:nvSpPr>
        <p:spPr>
          <a:xfrm>
            <a:off x="8419795" y="2838298"/>
            <a:ext cx="269473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99F6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RMSE (Train / Test)</a:t>
            </a:r>
            <a:endParaRPr lang="en-US" sz="900" dirty="0"/>
          </a:p>
        </p:txBody>
      </p:sp>
      <p:sp>
        <p:nvSpPr>
          <p:cNvPr id="30" name="Text 15"/>
          <p:cNvSpPr txBox="1"/>
          <p:nvPr/>
        </p:nvSpPr>
        <p:spPr>
          <a:xfrm>
            <a:off x="8419795" y="3044038"/>
            <a:ext cx="269473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17.88 </a:t>
            </a:r>
            <a:r>
              <a:rPr lang="en-US" sz="1600" b="1" dirty="0">
                <a:solidFill>
                  <a:srgbClr val="5EE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19.10 </a:t>
            </a:r>
            <a:endParaRPr lang="en-US" sz="1600" dirty="0"/>
          </a:p>
        </p:txBody>
      </p:sp>
      <p:sp>
        <p:nvSpPr>
          <p:cNvPr id="31" name="Text 16"/>
          <p:cNvSpPr txBox="1"/>
          <p:nvPr/>
        </p:nvSpPr>
        <p:spPr>
          <a:xfrm>
            <a:off x="1047902" y="3543300"/>
            <a:ext cx="2971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32" name="Text 17"/>
          <p:cNvSpPr txBox="1"/>
          <p:nvPr/>
        </p:nvSpPr>
        <p:spPr>
          <a:xfrm>
            <a:off x="1047902" y="3830422"/>
            <a:ext cx="293431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Strong sanity baseline; stable under machine-based split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Struggles with non-linear degradation (“cliff” near failure)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Useful as a reference point for improvement </a:t>
            </a:r>
            <a:endParaRPr lang="en-US" sz="1000" dirty="0"/>
          </a:p>
        </p:txBody>
      </p:sp>
      <p:sp>
        <p:nvSpPr>
          <p:cNvPr id="33" name="Text 18"/>
          <p:cNvSpPr txBox="1"/>
          <p:nvPr/>
        </p:nvSpPr>
        <p:spPr>
          <a:xfrm>
            <a:off x="4667098" y="3543300"/>
            <a:ext cx="2971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34" name="Text 19"/>
          <p:cNvSpPr txBox="1"/>
          <p:nvPr/>
        </p:nvSpPr>
        <p:spPr>
          <a:xfrm>
            <a:off x="4667098" y="3830422"/>
            <a:ext cx="293431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Captures non-linear sensor interactions better than Ridge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Generalizes well; limited smoothness for continuous RUL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Solid but not the strongest for nuanced failure patterns </a:t>
            </a:r>
            <a:endParaRPr lang="en-US" sz="1000" dirty="0"/>
          </a:p>
        </p:txBody>
      </p:sp>
      <p:sp>
        <p:nvSpPr>
          <p:cNvPr id="35" name="Text 20"/>
          <p:cNvSpPr txBox="1"/>
          <p:nvPr/>
        </p:nvSpPr>
        <p:spPr>
          <a:xfrm>
            <a:off x="8287207" y="3543300"/>
            <a:ext cx="2971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won</a:t>
            </a:r>
            <a:endParaRPr lang="en-US" sz="900" dirty="0"/>
          </a:p>
        </p:txBody>
      </p:sp>
      <p:sp>
        <p:nvSpPr>
          <p:cNvPr id="36" name="Text 21"/>
          <p:cNvSpPr txBox="1"/>
          <p:nvPr/>
        </p:nvSpPr>
        <p:spPr>
          <a:xfrm>
            <a:off x="8287207" y="3830422"/>
            <a:ext cx="2934310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Best at learning complex, non-linear degradation patterns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Minimal overfitting (train RMSE close to test RMSE)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Weighted focus on critical region to improve failure detection </a:t>
            </a:r>
            <a:endParaRPr lang="en-US" sz="1000" dirty="0"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15"/>
          <a:srcRect l="-1358" r="-1358"/>
          <a:stretch/>
        </p:blipFill>
        <p:spPr>
          <a:xfrm>
            <a:off x="9911182" y="2081174"/>
            <a:ext cx="142646" cy="123444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10134295" y="2029054"/>
            <a:ext cx="12006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</a:t>
            </a:r>
            <a:endParaRPr lang="en-US" sz="900" dirty="0"/>
          </a:p>
        </p:txBody>
      </p:sp>
      <p:pic>
        <p:nvPicPr>
          <p:cNvPr id="39" name="Image 14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104595" y="6344107"/>
            <a:ext cx="190195" cy="190195"/>
          </a:xfrm>
          <a:prstGeom prst="rect">
            <a:avLst/>
          </a:prstGeom>
        </p:spPr>
      </p:pic>
      <p:sp>
        <p:nvSpPr>
          <p:cNvPr id="40" name="Text 23"/>
          <p:cNvSpPr txBox="1"/>
          <p:nvPr/>
        </p:nvSpPr>
        <p:spPr>
          <a:xfrm>
            <a:off x="1447495" y="6191402"/>
            <a:ext cx="100209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Decision: XGBoost selected for best pattern learning + safe generalization on unseen machines</a:t>
            </a:r>
            <a:endParaRPr lang="en-US" sz="1100" dirty="0"/>
          </a:p>
        </p:txBody>
      </p:sp>
      <p:sp>
        <p:nvSpPr>
          <p:cNvPr id="41" name="Text 24"/>
          <p:cNvSpPr txBox="1"/>
          <p:nvPr/>
        </p:nvSpPr>
        <p:spPr>
          <a:xfrm>
            <a:off x="1447495" y="6424574"/>
            <a:ext cx="100209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step: apply safety constraints and translate RUL into risk bands for operational action (CRITICAL/HIGH/MEDIUM/SAFE).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399" b="-399"/>
          <a:stretch/>
        </p:blipFill>
        <p:spPr>
          <a:xfrm>
            <a:off x="761695" y="1657807"/>
            <a:ext cx="10668305" cy="192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t="-9" b="-9"/>
          <a:stretch/>
        </p:blipFill>
        <p:spPr>
          <a:xfrm>
            <a:off x="761695" y="1867205"/>
            <a:ext cx="3429000" cy="2572207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28700" y="2152498"/>
            <a:ext cx="495605" cy="495605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 t="-9" b="-9"/>
          <a:stretch/>
        </p:blipFill>
        <p:spPr>
          <a:xfrm>
            <a:off x="4381805" y="1867205"/>
            <a:ext cx="3429000" cy="2572207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647895" y="2152498"/>
            <a:ext cx="495605" cy="495605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rcRect t="-9" b="-9"/>
          <a:stretch/>
        </p:blipFill>
        <p:spPr>
          <a:xfrm>
            <a:off x="8001000" y="1867205"/>
            <a:ext cx="3429000" cy="2572207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268005" y="2152498"/>
            <a:ext cx="495605" cy="495605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1"/>
          <a:srcRect l="-9" r="-9"/>
          <a:stretch/>
        </p:blipFill>
        <p:spPr>
          <a:xfrm>
            <a:off x="761695" y="4686300"/>
            <a:ext cx="10668305" cy="2018995"/>
          </a:xfrm>
          <a:prstGeom prst="rect">
            <a:avLst/>
          </a:prstGeom>
        </p:spPr>
      </p:pic>
      <p:sp>
        <p:nvSpPr>
          <p:cNvPr id="13" name="Text 2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Results (Safety-Aware)</a:t>
            </a:r>
            <a:endParaRPr lang="en-US" sz="2700" dirty="0"/>
          </a:p>
        </p:txBody>
      </p:sp>
      <p:sp>
        <p:nvSpPr>
          <p:cNvPr id="14" name="Text 3"/>
          <p:cNvSpPr txBox="1"/>
          <p:nvPr/>
        </p:nvSpPr>
        <p:spPr>
          <a:xfrm>
            <a:off x="761695" y="1047902"/>
            <a:ext cx="107826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Performance summary on </a:t>
            </a: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unseen machines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a business-first safety layer (clipping + conservative bias). </a:t>
            </a:r>
            <a:endParaRPr lang="en-US" sz="1200" dirty="0"/>
          </a:p>
        </p:txBody>
      </p:sp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171346" y="2295144"/>
            <a:ext cx="209398" cy="209398"/>
          </a:xfrm>
          <a:prstGeom prst="rect">
            <a:avLst/>
          </a:prstGeom>
        </p:spPr>
      </p:pic>
      <p:sp>
        <p:nvSpPr>
          <p:cNvPr id="16" name="Text 4"/>
          <p:cNvSpPr txBox="1"/>
          <p:nvPr/>
        </p:nvSpPr>
        <p:spPr>
          <a:xfrm>
            <a:off x="1600200" y="2133295"/>
            <a:ext cx="2496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RMSE (after safety layer)</a:t>
            </a:r>
            <a:endParaRPr lang="en-US" sz="900" dirty="0"/>
          </a:p>
        </p:txBody>
      </p:sp>
      <p:sp>
        <p:nvSpPr>
          <p:cNvPr id="17" name="Text 5"/>
          <p:cNvSpPr txBox="1"/>
          <p:nvPr/>
        </p:nvSpPr>
        <p:spPr>
          <a:xfrm>
            <a:off x="1028700" y="2723998"/>
            <a:ext cx="30861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-75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19.78</a:t>
            </a:r>
            <a:endParaRPr lang="en-US" sz="4000" dirty="0"/>
          </a:p>
        </p:txBody>
      </p:sp>
      <p:sp>
        <p:nvSpPr>
          <p:cNvPr id="18" name="Text 6"/>
          <p:cNvSpPr txBox="1"/>
          <p:nvPr/>
        </p:nvSpPr>
        <p:spPr>
          <a:xfrm>
            <a:off x="1028700" y="3359506"/>
            <a:ext cx="29718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RMSE optimized for </a:t>
            </a: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high-risk errors</a:t>
            </a: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(large misses are penalized more). </a:t>
            </a:r>
            <a:endParaRPr lang="en-US" sz="1000" dirty="0"/>
          </a:p>
        </p:txBody>
      </p:sp>
      <p:sp>
        <p:nvSpPr>
          <p:cNvPr id="19" name="Text 7"/>
          <p:cNvSpPr txBox="1"/>
          <p:nvPr/>
        </p:nvSpPr>
        <p:spPr>
          <a:xfrm>
            <a:off x="1028700" y="3848710"/>
            <a:ext cx="29718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A5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Interpretation: predictions stay within a practical error band for maintenance planning.</a:t>
            </a:r>
            <a:endParaRPr lang="en-US" sz="900" dirty="0"/>
          </a:p>
        </p:txBody>
      </p:sp>
      <p:pic>
        <p:nvPicPr>
          <p:cNvPr id="20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791456" y="2295144"/>
            <a:ext cx="209398" cy="209398"/>
          </a:xfrm>
          <a:prstGeom prst="rect">
            <a:avLst/>
          </a:prstGeom>
        </p:spPr>
      </p:pic>
      <p:sp>
        <p:nvSpPr>
          <p:cNvPr id="21" name="Text 8"/>
          <p:cNvSpPr txBox="1"/>
          <p:nvPr/>
        </p:nvSpPr>
        <p:spPr>
          <a:xfrm>
            <a:off x="5219395" y="2133295"/>
            <a:ext cx="2496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Overprediction rate</a:t>
            </a:r>
            <a:endParaRPr lang="en-US" sz="900" dirty="0"/>
          </a:p>
        </p:txBody>
      </p:sp>
      <p:sp>
        <p:nvSpPr>
          <p:cNvPr id="22" name="Text 9"/>
          <p:cNvSpPr txBox="1"/>
          <p:nvPr/>
        </p:nvSpPr>
        <p:spPr>
          <a:xfrm>
            <a:off x="4647895" y="2723998"/>
            <a:ext cx="308610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-75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0.39</a:t>
            </a:r>
            <a:endParaRPr lang="en-US" sz="4000" dirty="0"/>
          </a:p>
        </p:txBody>
      </p:sp>
      <p:sp>
        <p:nvSpPr>
          <p:cNvPr id="23" name="Text 10"/>
          <p:cNvSpPr txBox="1"/>
          <p:nvPr/>
        </p:nvSpPr>
        <p:spPr>
          <a:xfrm>
            <a:off x="4647895" y="3359506"/>
            <a:ext cx="29718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Indicates a </a:t>
            </a: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conservative</a:t>
            </a: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tendency (safety-first). </a:t>
            </a:r>
            <a:endParaRPr lang="en-US" sz="1000" dirty="0"/>
          </a:p>
        </p:txBody>
      </p:sp>
      <p:sp>
        <p:nvSpPr>
          <p:cNvPr id="24" name="Text 11"/>
          <p:cNvSpPr txBox="1"/>
          <p:nvPr/>
        </p:nvSpPr>
        <p:spPr>
          <a:xfrm>
            <a:off x="4647895" y="3848710"/>
            <a:ext cx="29718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trade-off: accepts some false alarms to avoid “false safe” failures.</a:t>
            </a:r>
            <a:endParaRPr lang="en-US" sz="900" dirty="0"/>
          </a:p>
        </p:txBody>
      </p:sp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14"/>
          <a:srcRect l="-1282" r="-1282"/>
          <a:stretch/>
        </p:blipFill>
        <p:spPr>
          <a:xfrm>
            <a:off x="8406079" y="2305202"/>
            <a:ext cx="219456" cy="190195"/>
          </a:xfrm>
          <a:prstGeom prst="rect">
            <a:avLst/>
          </a:prstGeom>
        </p:spPr>
      </p:pic>
      <p:sp>
        <p:nvSpPr>
          <p:cNvPr id="26" name="Text 12"/>
          <p:cNvSpPr txBox="1"/>
          <p:nvPr/>
        </p:nvSpPr>
        <p:spPr>
          <a:xfrm>
            <a:off x="8839505" y="2133295"/>
            <a:ext cx="245699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99F6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Generalization check</a:t>
            </a:r>
            <a:endParaRPr lang="en-US" sz="900" dirty="0"/>
          </a:p>
        </p:txBody>
      </p:sp>
      <p:sp>
        <p:nvSpPr>
          <p:cNvPr id="27" name="Text 13"/>
          <p:cNvSpPr txBox="1"/>
          <p:nvPr/>
        </p:nvSpPr>
        <p:spPr>
          <a:xfrm>
            <a:off x="8268005" y="2723998"/>
            <a:ext cx="295076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Consistent on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kern="0" spc="-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unseen machines </a:t>
            </a:r>
            <a:endParaRPr lang="en-US" sz="1900" dirty="0"/>
          </a:p>
        </p:txBody>
      </p:sp>
      <p:sp>
        <p:nvSpPr>
          <p:cNvPr id="28" name="Text 14"/>
          <p:cNvSpPr txBox="1"/>
          <p:nvPr/>
        </p:nvSpPr>
        <p:spPr>
          <a:xfrm>
            <a:off x="8268005" y="3388766"/>
            <a:ext cx="29343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Evaluation used a strict </a:t>
            </a: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machine_id</a:t>
            </a: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split so the model is tested on machines it never saw during training. </a:t>
            </a:r>
            <a:endParaRPr lang="en-US" sz="900" dirty="0"/>
          </a:p>
        </p:txBody>
      </p:sp>
      <p:sp>
        <p:nvSpPr>
          <p:cNvPr id="29" name="Text 15"/>
          <p:cNvSpPr txBox="1"/>
          <p:nvPr/>
        </p:nvSpPr>
        <p:spPr>
          <a:xfrm>
            <a:off x="8268005" y="3984041"/>
            <a:ext cx="29343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matters: closer to real deployment conditions.</a:t>
            </a:r>
            <a:endParaRPr lang="en-US" sz="90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123798" y="5143500"/>
            <a:ext cx="228600" cy="228600"/>
          </a:xfrm>
          <a:prstGeom prst="rect">
            <a:avLst/>
          </a:prstGeom>
        </p:spPr>
      </p:pic>
      <p:sp>
        <p:nvSpPr>
          <p:cNvPr id="31" name="Text 16"/>
          <p:cNvSpPr txBox="1"/>
          <p:nvPr/>
        </p:nvSpPr>
        <p:spPr>
          <a:xfrm>
            <a:off x="1600200" y="4953305"/>
            <a:ext cx="97539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means for the business</a:t>
            </a:r>
            <a:endParaRPr lang="en-US" sz="1300" dirty="0"/>
          </a:p>
        </p:txBody>
      </p:sp>
      <p:sp>
        <p:nvSpPr>
          <p:cNvPr id="32" name="Text 17"/>
          <p:cNvSpPr txBox="1"/>
          <p:nvPr/>
        </p:nvSpPr>
        <p:spPr>
          <a:xfrm>
            <a:off x="1600200" y="5260543"/>
            <a:ext cx="97155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model is tuned to be </a:t>
            </a: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risk-aware</a:t>
            </a: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it avoids dangerous “too-late” maintenance by leaning conservative, while keeping overall prediction error stable on new machines. </a:t>
            </a:r>
            <a:endParaRPr lang="en-US" sz="1000" dirty="0"/>
          </a:p>
        </p:txBody>
      </p:sp>
      <p:sp>
        <p:nvSpPr>
          <p:cNvPr id="33" name="Text 18"/>
          <p:cNvSpPr txBox="1"/>
          <p:nvPr/>
        </p:nvSpPr>
        <p:spPr>
          <a:xfrm>
            <a:off x="1600200" y="5795467"/>
            <a:ext cx="9753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Next: translate RUL into </a:t>
            </a:r>
            <a:r>
              <a:rPr lang="en-US" sz="1000" b="1" dirty="0">
                <a:solidFill>
                  <a:srgbClr val="0EA5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Bands</a:t>
            </a: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drive action (CRITICAL / HIGH / MEDIUM / SAFE). 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399" b="-399"/>
          <a:stretch/>
        </p:blipFill>
        <p:spPr>
          <a:xfrm>
            <a:off x="761695" y="1657807"/>
            <a:ext cx="10668305" cy="192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761695" y="1867205"/>
            <a:ext cx="5219395" cy="34290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t="-3" b="-3"/>
          <a:stretch/>
        </p:blipFill>
        <p:spPr>
          <a:xfrm>
            <a:off x="6210605" y="1867205"/>
            <a:ext cx="5219395" cy="342900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 l="-5" r="-5"/>
          <a:stretch/>
        </p:blipFill>
        <p:spPr>
          <a:xfrm>
            <a:off x="6495898" y="2628900"/>
            <a:ext cx="4743907" cy="80010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95898" y="3562502"/>
            <a:ext cx="4743907" cy="1733702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rcRect l="-14" r="-14"/>
          <a:stretch/>
        </p:blipFill>
        <p:spPr>
          <a:xfrm>
            <a:off x="761695" y="5486400"/>
            <a:ext cx="10668305" cy="1218895"/>
          </a:xfrm>
          <a:prstGeom prst="rect">
            <a:avLst/>
          </a:prstGeom>
        </p:spPr>
      </p:pic>
      <p:sp>
        <p:nvSpPr>
          <p:cNvPr id="11" name="Text 2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Impact &amp; Risk Bands</a:t>
            </a:r>
            <a:endParaRPr lang="en-US" sz="2700" dirty="0"/>
          </a:p>
        </p:txBody>
      </p:sp>
      <p:sp>
        <p:nvSpPr>
          <p:cNvPr id="12" name="Text 3"/>
          <p:cNvSpPr txBox="1"/>
          <p:nvPr/>
        </p:nvSpPr>
        <p:spPr>
          <a:xfrm>
            <a:off x="761695" y="1047902"/>
            <a:ext cx="107826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Translating RUL predictions into simple, operational decisions for maintenance planning</a:t>
            </a:r>
            <a:endParaRPr lang="en-US" sz="1200" dirty="0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43000" y="2286000"/>
            <a:ext cx="228600" cy="228600"/>
          </a:xfrm>
          <a:prstGeom prst="rect">
            <a:avLst/>
          </a:prstGeom>
        </p:spPr>
      </p:pic>
      <p:sp>
        <p:nvSpPr>
          <p:cNvPr id="14" name="Text 4"/>
          <p:cNvSpPr txBox="1"/>
          <p:nvPr/>
        </p:nvSpPr>
        <p:spPr>
          <a:xfrm>
            <a:off x="1600200" y="2133295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Bands (Action Layer)</a:t>
            </a:r>
            <a:endParaRPr lang="en-US" sz="1300" dirty="0"/>
          </a:p>
        </p:txBody>
      </p:sp>
      <p:sp>
        <p:nvSpPr>
          <p:cNvPr id="15" name="Text 5"/>
          <p:cNvSpPr txBox="1"/>
          <p:nvPr/>
        </p:nvSpPr>
        <p:spPr>
          <a:xfrm>
            <a:off x="1047902" y="2572207"/>
            <a:ext cx="48198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 convert continuous RUL into </a:t>
            </a: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decision-ready bands</a:t>
            </a:r>
            <a:r>
              <a:rPr lang="en-US" sz="1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guide planning and prioritization. </a:t>
            </a:r>
            <a:endParaRPr lang="en-US" sz="1000" dirty="0"/>
          </a:p>
        </p:txBody>
      </p:sp>
      <p:sp>
        <p:nvSpPr>
          <p:cNvPr id="16" name="Text 6"/>
          <p:cNvSpPr txBox="1"/>
          <p:nvPr/>
        </p:nvSpPr>
        <p:spPr>
          <a:xfrm>
            <a:off x="1047902" y="3131820"/>
            <a:ext cx="4858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CRITICAL </a:t>
            </a:r>
            <a:r>
              <a:rPr lang="en-US" sz="1100" b="1" dirty="0">
                <a:solidFill>
                  <a:srgbClr val="0EA5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(≤ 85 cycles)</a:t>
            </a:r>
            <a:endParaRPr lang="en-US" sz="1100" dirty="0"/>
          </a:p>
        </p:txBody>
      </p:sp>
      <p:sp>
        <p:nvSpPr>
          <p:cNvPr id="17" name="Text 7"/>
          <p:cNvSpPr txBox="1"/>
          <p:nvPr/>
        </p:nvSpPr>
        <p:spPr>
          <a:xfrm>
            <a:off x="1047902" y="3388766"/>
            <a:ext cx="4858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action — stop/repair before catastrophic failure.</a:t>
            </a:r>
            <a:endParaRPr lang="en-US" sz="900" dirty="0"/>
          </a:p>
        </p:txBody>
      </p:sp>
      <p:sp>
        <p:nvSpPr>
          <p:cNvPr id="18" name="Text 8"/>
          <p:cNvSpPr txBox="1"/>
          <p:nvPr/>
        </p:nvSpPr>
        <p:spPr>
          <a:xfrm>
            <a:off x="1047902" y="3675888"/>
            <a:ext cx="4858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 </a:t>
            </a:r>
            <a:r>
              <a:rPr lang="en-US" sz="11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(86–150 cycles)</a:t>
            </a:r>
            <a:endParaRPr lang="en-US" sz="1100" dirty="0"/>
          </a:p>
        </p:txBody>
      </p:sp>
      <p:sp>
        <p:nvSpPr>
          <p:cNvPr id="19" name="Text 9"/>
          <p:cNvSpPr txBox="1"/>
          <p:nvPr/>
        </p:nvSpPr>
        <p:spPr>
          <a:xfrm>
            <a:off x="1047902" y="3932834"/>
            <a:ext cx="4858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in the next maintenance window; plan parts.</a:t>
            </a:r>
            <a:endParaRPr lang="en-US" sz="900" dirty="0"/>
          </a:p>
        </p:txBody>
      </p:sp>
      <p:sp>
        <p:nvSpPr>
          <p:cNvPr id="20" name="Text 10"/>
          <p:cNvSpPr txBox="1"/>
          <p:nvPr/>
        </p:nvSpPr>
        <p:spPr>
          <a:xfrm>
            <a:off x="1047902" y="4219956"/>
            <a:ext cx="4858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MEDIUM </a:t>
            </a:r>
            <a:r>
              <a:rPr lang="en-US" sz="11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(151–280 cycles)</a:t>
            </a:r>
            <a:endParaRPr lang="en-US" sz="1100" dirty="0"/>
          </a:p>
        </p:txBody>
      </p:sp>
      <p:sp>
        <p:nvSpPr>
          <p:cNvPr id="21" name="Text 11"/>
          <p:cNvSpPr txBox="1"/>
          <p:nvPr/>
        </p:nvSpPr>
        <p:spPr>
          <a:xfrm>
            <a:off x="1047902" y="4477817"/>
            <a:ext cx="4858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closely; trend-based review.</a:t>
            </a:r>
            <a:endParaRPr lang="en-US" sz="900" dirty="0"/>
          </a:p>
        </p:txBody>
      </p:sp>
      <p:sp>
        <p:nvSpPr>
          <p:cNvPr id="22" name="Text 12"/>
          <p:cNvSpPr txBox="1"/>
          <p:nvPr/>
        </p:nvSpPr>
        <p:spPr>
          <a:xfrm>
            <a:off x="1047902" y="4764938"/>
            <a:ext cx="4858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SAFE </a:t>
            </a:r>
            <a:r>
              <a:rPr lang="en-US" sz="11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(&gt; 280 cycles)</a:t>
            </a:r>
            <a:endParaRPr lang="en-US" sz="1100" dirty="0"/>
          </a:p>
        </p:txBody>
      </p:sp>
      <p:sp>
        <p:nvSpPr>
          <p:cNvPr id="23" name="Text 13"/>
          <p:cNvSpPr txBox="1"/>
          <p:nvPr/>
        </p:nvSpPr>
        <p:spPr>
          <a:xfrm>
            <a:off x="1047902" y="5021885"/>
            <a:ext cx="48582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 — routine monitoring only.</a:t>
            </a:r>
            <a:endParaRPr lang="en-US" sz="9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590995" y="2286000"/>
            <a:ext cx="228600" cy="228600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7048195" y="2133295"/>
            <a:ext cx="43059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 Performance (Evidence)</a:t>
            </a:r>
            <a:endParaRPr lang="en-US" sz="1300" dirty="0"/>
          </a:p>
        </p:txBody>
      </p:sp>
      <p:sp>
        <p:nvSpPr>
          <p:cNvPr id="26" name="Text 15"/>
          <p:cNvSpPr txBox="1"/>
          <p:nvPr/>
        </p:nvSpPr>
        <p:spPr>
          <a:xfrm>
            <a:off x="6705295" y="2781605"/>
            <a:ext cx="4439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ACCURACY</a:t>
            </a:r>
            <a:endParaRPr lang="en-US" sz="900" dirty="0"/>
          </a:p>
        </p:txBody>
      </p:sp>
      <p:sp>
        <p:nvSpPr>
          <p:cNvPr id="27" name="Text 16"/>
          <p:cNvSpPr txBox="1"/>
          <p:nvPr/>
        </p:nvSpPr>
        <p:spPr>
          <a:xfrm>
            <a:off x="6705295" y="2987345"/>
            <a:ext cx="44394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0.83 </a:t>
            </a: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(risk bands)</a:t>
            </a:r>
            <a:endParaRPr lang="en-US" sz="2100" dirty="0"/>
          </a:p>
        </p:txBody>
      </p:sp>
      <p:sp>
        <p:nvSpPr>
          <p:cNvPr id="28" name="Text 17"/>
          <p:cNvSpPr txBox="1"/>
          <p:nvPr/>
        </p:nvSpPr>
        <p:spPr>
          <a:xfrm>
            <a:off x="6705295" y="3733495"/>
            <a:ext cx="44394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CRITICAL recall: </a:t>
            </a: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0.71</a:t>
            </a:r>
            <a:endParaRPr lang="en-US" sz="1000" dirty="0"/>
          </a:p>
        </p:txBody>
      </p:sp>
      <p:sp>
        <p:nvSpPr>
          <p:cNvPr id="29" name="Text 18"/>
          <p:cNvSpPr txBox="1"/>
          <p:nvPr/>
        </p:nvSpPr>
        <p:spPr>
          <a:xfrm>
            <a:off x="6705295" y="3961181"/>
            <a:ext cx="44394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Catches most imminent failures (safety-first).</a:t>
            </a:r>
            <a:endParaRPr lang="en-US" sz="900" dirty="0"/>
          </a:p>
        </p:txBody>
      </p:sp>
      <p:sp>
        <p:nvSpPr>
          <p:cNvPr id="30" name="Text 19"/>
          <p:cNvSpPr txBox="1"/>
          <p:nvPr/>
        </p:nvSpPr>
        <p:spPr>
          <a:xfrm>
            <a:off x="6705295" y="4222699"/>
            <a:ext cx="44394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 precision/recall: </a:t>
            </a:r>
            <a:r>
              <a:rPr lang="en-US" sz="1000" b="1" dirty="0">
                <a:solidFill>
                  <a:srgbClr val="0EA5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0.75 / 0.69</a:t>
            </a:r>
            <a:endParaRPr lang="en-US" sz="1000" dirty="0"/>
          </a:p>
        </p:txBody>
      </p:sp>
      <p:sp>
        <p:nvSpPr>
          <p:cNvPr id="31" name="Text 20"/>
          <p:cNvSpPr txBox="1"/>
          <p:nvPr/>
        </p:nvSpPr>
        <p:spPr>
          <a:xfrm>
            <a:off x="6705295" y="4450385"/>
            <a:ext cx="44394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 identification of “needs attention soon”.</a:t>
            </a:r>
            <a:endParaRPr lang="en-US" sz="900" dirty="0"/>
          </a:p>
        </p:txBody>
      </p:sp>
      <p:sp>
        <p:nvSpPr>
          <p:cNvPr id="32" name="Text 21"/>
          <p:cNvSpPr txBox="1"/>
          <p:nvPr/>
        </p:nvSpPr>
        <p:spPr>
          <a:xfrm>
            <a:off x="6705295" y="4712818"/>
            <a:ext cx="44394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MEDIUM precision/recall: </a:t>
            </a:r>
            <a:r>
              <a:rPr lang="en-US" sz="10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0.85 / 0.96</a:t>
            </a:r>
            <a:endParaRPr lang="en-US" sz="1000" dirty="0"/>
          </a:p>
        </p:txBody>
      </p:sp>
      <p:sp>
        <p:nvSpPr>
          <p:cNvPr id="33" name="Text 22"/>
          <p:cNvSpPr txBox="1"/>
          <p:nvPr/>
        </p:nvSpPr>
        <p:spPr>
          <a:xfrm>
            <a:off x="6705295" y="4939589"/>
            <a:ext cx="44394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performance on normal operating conditions.</a:t>
            </a:r>
            <a:endParaRPr lang="en-US" sz="900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2"/>
          <a:srcRect l="-133" r="-133"/>
          <a:stretch/>
        </p:blipFill>
        <p:spPr>
          <a:xfrm>
            <a:off x="1152144" y="5924398"/>
            <a:ext cx="171907" cy="22860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600200" y="5658307"/>
            <a:ext cx="97539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impact on the shop floor</a:t>
            </a:r>
            <a:endParaRPr lang="en-US" sz="1300" dirty="0"/>
          </a:p>
        </p:txBody>
      </p:sp>
      <p:sp>
        <p:nvSpPr>
          <p:cNvPr id="36" name="Text 24"/>
          <p:cNvSpPr txBox="1"/>
          <p:nvPr/>
        </p:nvSpPr>
        <p:spPr>
          <a:xfrm>
            <a:off x="1600200" y="5946343"/>
            <a:ext cx="97539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triage across machines • fewer surprise breakdowns • better parts planning • safer operations</a:t>
            </a:r>
            <a:endParaRPr lang="en-US" sz="1000" dirty="0"/>
          </a:p>
        </p:txBody>
      </p:sp>
      <p:sp>
        <p:nvSpPr>
          <p:cNvPr id="37" name="Text 25"/>
          <p:cNvSpPr txBox="1"/>
          <p:nvPr/>
        </p:nvSpPr>
        <p:spPr>
          <a:xfrm>
            <a:off x="1600200" y="6228893"/>
            <a:ext cx="97539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maintenance aligned to business priorities (urgent machines first, healthy machines left running)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399" b="-399"/>
          <a:stretch/>
        </p:blipFill>
        <p:spPr>
          <a:xfrm>
            <a:off x="761695" y="1676095"/>
            <a:ext cx="10668305" cy="192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761695" y="1952244"/>
            <a:ext cx="10668305" cy="1619402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l="-13" r="-13"/>
          <a:stretch/>
        </p:blipFill>
        <p:spPr>
          <a:xfrm>
            <a:off x="761695" y="3733495"/>
            <a:ext cx="10668305" cy="1333195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 l="-5" r="-5"/>
          <a:stretch/>
        </p:blipFill>
        <p:spPr>
          <a:xfrm>
            <a:off x="761695" y="5219395"/>
            <a:ext cx="10668305" cy="1190549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7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Readiness &amp; Future Scope</a:t>
            </a:r>
            <a:endParaRPr lang="en-US" sz="2700" dirty="0"/>
          </a:p>
        </p:txBody>
      </p:sp>
      <p:sp>
        <p:nvSpPr>
          <p:cNvPr id="10" name="Text 3"/>
          <p:cNvSpPr txBox="1"/>
          <p:nvPr/>
        </p:nvSpPr>
        <p:spPr>
          <a:xfrm>
            <a:off x="761695" y="1067105"/>
            <a:ext cx="10782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solution can be operationalized today, plus key constraints and next enhancements</a:t>
            </a:r>
            <a:endParaRPr lang="en-US" sz="120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114654" y="2447849"/>
            <a:ext cx="247802" cy="247802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1600200" y="2171700"/>
            <a:ext cx="94494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Readiness: practical steps to run on live factory data</a:t>
            </a:r>
            <a:endParaRPr lang="en-US" sz="1300" dirty="0"/>
          </a:p>
        </p:txBody>
      </p:sp>
      <p:sp>
        <p:nvSpPr>
          <p:cNvPr id="13" name="Text 5"/>
          <p:cNvSpPr txBox="1"/>
          <p:nvPr/>
        </p:nvSpPr>
        <p:spPr>
          <a:xfrm>
            <a:off x="1600200" y="2498141"/>
            <a:ext cx="3048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contract &amp; reliability</a:t>
            </a:r>
            <a:endParaRPr lang="en-US" sz="1000" dirty="0"/>
          </a:p>
        </p:txBody>
      </p:sp>
      <p:sp>
        <p:nvSpPr>
          <p:cNvPr id="14" name="Text 6"/>
          <p:cNvSpPr txBox="1"/>
          <p:nvPr/>
        </p:nvSpPr>
        <p:spPr>
          <a:xfrm>
            <a:off x="1600200" y="2756002"/>
            <a:ext cx="30102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Input schema validation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Missing-value handling (robust imputation) </a:t>
            </a:r>
            <a:endParaRPr lang="en-US" sz="1100" dirty="0"/>
          </a:p>
        </p:txBody>
      </p:sp>
      <p:sp>
        <p:nvSpPr>
          <p:cNvPr id="15" name="Text 7"/>
          <p:cNvSpPr txBox="1"/>
          <p:nvPr/>
        </p:nvSpPr>
        <p:spPr>
          <a:xfrm>
            <a:off x="4800600" y="2498141"/>
            <a:ext cx="3048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scoring</a:t>
            </a:r>
            <a:endParaRPr lang="en-US" sz="1000" dirty="0"/>
          </a:p>
        </p:txBody>
      </p:sp>
      <p:sp>
        <p:nvSpPr>
          <p:cNvPr id="16" name="Text 8"/>
          <p:cNvSpPr txBox="1"/>
          <p:nvPr/>
        </p:nvSpPr>
        <p:spPr>
          <a:xfrm>
            <a:off x="4800600" y="2756002"/>
            <a:ext cx="30102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Same feature logic for new data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Stable outputs for unseen machines </a:t>
            </a:r>
            <a:endParaRPr lang="en-US" sz="1100" dirty="0"/>
          </a:p>
        </p:txBody>
      </p:sp>
      <p:sp>
        <p:nvSpPr>
          <p:cNvPr id="17" name="Text 9"/>
          <p:cNvSpPr txBox="1"/>
          <p:nvPr/>
        </p:nvSpPr>
        <p:spPr>
          <a:xfrm>
            <a:off x="8001000" y="2498141"/>
            <a:ext cx="3048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18" name="Text 10"/>
          <p:cNvSpPr txBox="1"/>
          <p:nvPr/>
        </p:nvSpPr>
        <p:spPr>
          <a:xfrm>
            <a:off x="8001000" y="2756002"/>
            <a:ext cx="30102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Track RMSE over time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Recall for </a:t>
            </a: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band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Drift checks (sensor/operating changes) </a:t>
            </a:r>
            <a:endParaRPr lang="en-US" sz="11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123798" y="4248302"/>
            <a:ext cx="228600" cy="22860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600200" y="3943807"/>
            <a:ext cx="9715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 (known trade-offs)</a:t>
            </a:r>
            <a:endParaRPr lang="en-US" sz="1300" dirty="0"/>
          </a:p>
        </p:txBody>
      </p:sp>
      <p:sp>
        <p:nvSpPr>
          <p:cNvPr id="21" name="Text 12"/>
          <p:cNvSpPr txBox="1"/>
          <p:nvPr/>
        </p:nvSpPr>
        <p:spPr>
          <a:xfrm>
            <a:off x="1600200" y="4251046"/>
            <a:ext cx="96780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</a:t>
            </a: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Conservative bias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~0.39 overprediction rate (safer alerts, more false positives)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</a:t>
            </a: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machine classes</a:t>
            </a:r>
            <a:r>
              <a:rPr lang="en-US" sz="12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model needs retraining/transfer learning if equipment physics differ </a:t>
            </a:r>
            <a:endParaRPr lang="en-US" sz="12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23798" y="5695798"/>
            <a:ext cx="228600" cy="22860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1600200" y="5391302"/>
            <a:ext cx="97155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scope (next upgrades)</a:t>
            </a:r>
            <a:endParaRPr lang="en-US" sz="1300" dirty="0"/>
          </a:p>
        </p:txBody>
      </p:sp>
      <p:sp>
        <p:nvSpPr>
          <p:cNvPr id="24" name="Text 14"/>
          <p:cNvSpPr txBox="1"/>
          <p:nvPr/>
        </p:nvSpPr>
        <p:spPr>
          <a:xfrm>
            <a:off x="1600200" y="5698541"/>
            <a:ext cx="96780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Explore </a:t>
            </a: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LSTM / sequence models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learn temporal degradation without manual rolling features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Deploy to </a:t>
            </a: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/ IoT gateways</a:t>
            </a: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low-latency, near real-time scoring on the factory floor </a:t>
            </a:r>
            <a:endParaRPr lang="en-US" sz="1200" dirty="0"/>
          </a:p>
        </p:txBody>
      </p:sp>
      <p:sp>
        <p:nvSpPr>
          <p:cNvPr id="25" name="Text 15"/>
          <p:cNvSpPr txBox="1"/>
          <p:nvPr/>
        </p:nvSpPr>
        <p:spPr>
          <a:xfrm>
            <a:off x="761695" y="6495898"/>
            <a:ext cx="1096182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goal: a reliable “maintenance decision layer” that prioritizes catching imminent failures while staying deployable in real conditions.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095805" y="1429207"/>
            <a:ext cx="8001000" cy="40005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810098" y="1695298"/>
            <a:ext cx="571500" cy="5715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t="-404" b="-404"/>
          <a:stretch/>
        </p:blipFill>
        <p:spPr>
          <a:xfrm>
            <a:off x="4000500" y="4134002"/>
            <a:ext cx="4190695" cy="19202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982005" y="1867205"/>
            <a:ext cx="228600" cy="228600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2286000" y="2343607"/>
            <a:ext cx="76206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kern="0" spc="-9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10" name="Text 3"/>
          <p:cNvSpPr txBox="1"/>
          <p:nvPr/>
        </p:nvSpPr>
        <p:spPr>
          <a:xfrm>
            <a:off x="2324405" y="3143707"/>
            <a:ext cx="75438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5" dirty="0">
                <a:solidFill>
                  <a:srgbClr val="0EA5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11" name="Text 4"/>
          <p:cNvSpPr txBox="1"/>
          <p:nvPr/>
        </p:nvSpPr>
        <p:spPr>
          <a:xfrm>
            <a:off x="2324405" y="3600907"/>
            <a:ext cx="7543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Maintenance (RUL)</a:t>
            </a:r>
            <a:endParaRPr lang="en-US" sz="1300" dirty="0"/>
          </a:p>
        </p:txBody>
      </p:sp>
      <p:sp>
        <p:nvSpPr>
          <p:cNvPr id="12" name="Text 5"/>
          <p:cNvSpPr txBox="1"/>
          <p:nvPr/>
        </p:nvSpPr>
        <p:spPr>
          <a:xfrm>
            <a:off x="2318004" y="4238244"/>
            <a:ext cx="755568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Avi Kishore Soni</a:t>
            </a:r>
            <a:endParaRPr lang="en-US" sz="1000" dirty="0"/>
          </a:p>
        </p:txBody>
      </p:sp>
      <p:sp>
        <p:nvSpPr>
          <p:cNvPr id="13" name="Text 6"/>
          <p:cNvSpPr txBox="1"/>
          <p:nvPr/>
        </p:nvSpPr>
        <p:spPr>
          <a:xfrm>
            <a:off x="2324405" y="4573829"/>
            <a:ext cx="7543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PGP in Data Science with Specialization in Gen AI</a:t>
            </a:r>
            <a:endParaRPr lang="en-US" sz="900" dirty="0"/>
          </a:p>
        </p:txBody>
      </p:sp>
      <p:sp>
        <p:nvSpPr>
          <p:cNvPr id="14" name="Text 7"/>
          <p:cNvSpPr txBox="1"/>
          <p:nvPr/>
        </p:nvSpPr>
        <p:spPr>
          <a:xfrm>
            <a:off x="705002" y="6515100"/>
            <a:ext cx="10782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Capstone Presentation • Remaining Useful Life (RUL) Prediction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2006</Words>
  <Application>Microsoft Office PowerPoint</Application>
  <PresentationFormat>Widescreen</PresentationFormat>
  <Paragraphs>220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Ayushi Arora A</cp:lastModifiedBy>
  <cp:revision>4</cp:revision>
  <dcterms:created xsi:type="dcterms:W3CDTF">2026-03-27T10:45:50Z</dcterms:created>
  <dcterms:modified xsi:type="dcterms:W3CDTF">2026-04-15T07:41:55Z</dcterms:modified>
</cp:coreProperties>
</file>